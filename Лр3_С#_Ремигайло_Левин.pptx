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9" r:id="rId2"/>
    <p:sldId id="473" r:id="rId3"/>
    <p:sldId id="258" r:id="rId4"/>
    <p:sldId id="485" r:id="rId5"/>
    <p:sldId id="483" r:id="rId6"/>
    <p:sldId id="486" r:id="rId7"/>
    <p:sldId id="474" r:id="rId8"/>
    <p:sldId id="487" r:id="rId9"/>
    <p:sldId id="488" r:id="rId10"/>
    <p:sldId id="489" r:id="rId11"/>
    <p:sldId id="490" r:id="rId12"/>
    <p:sldId id="480" r:id="rId13"/>
    <p:sldId id="481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1AD9544-0DF6-42F8-ADB6-AF80BF3FB45D}">
          <p14:sldIdLst>
            <p14:sldId id="259"/>
            <p14:sldId id="473"/>
            <p14:sldId id="258"/>
            <p14:sldId id="485"/>
            <p14:sldId id="483"/>
            <p14:sldId id="486"/>
            <p14:sldId id="474"/>
            <p14:sldId id="487"/>
            <p14:sldId id="488"/>
            <p14:sldId id="489"/>
            <p14:sldId id="490"/>
            <p14:sldId id="480"/>
            <p14:sldId id="4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вахина Ксения Сергеевна" initials="ЛКС" lastIdx="1" clrIdx="0">
    <p:extLst>
      <p:ext uri="{19B8F6BF-5375-455C-9EA6-DF929625EA0E}">
        <p15:presenceInfo xmlns:p15="http://schemas.microsoft.com/office/powerpoint/2012/main" userId="Левахина Ксения Сергеевн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 autoAdjust="0"/>
    <p:restoredTop sz="94651" autoAdjust="0"/>
  </p:normalViewPr>
  <p:slideViewPr>
    <p:cSldViewPr snapToGrid="0">
      <p:cViewPr varScale="1">
        <p:scale>
          <a:sx n="60" d="100"/>
          <a:sy n="60" d="100"/>
        </p:scale>
        <p:origin x="996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всеволод левин" userId="88b003701cfbb3e4" providerId="LiveId" clId="{64C2A9C1-AB72-4524-9EA6-021C97AD3A74}"/>
    <pc:docChg chg="modSld">
      <pc:chgData name="всеволод левин" userId="88b003701cfbb3e4" providerId="LiveId" clId="{64C2A9C1-AB72-4524-9EA6-021C97AD3A74}" dt="2026-05-28T08:15:14.613" v="13" actId="14100"/>
      <pc:docMkLst>
        <pc:docMk/>
      </pc:docMkLst>
      <pc:sldChg chg="modSp mod">
        <pc:chgData name="всеволод левин" userId="88b003701cfbb3e4" providerId="LiveId" clId="{64C2A9C1-AB72-4524-9EA6-021C97AD3A74}" dt="2026-05-28T08:15:14.613" v="13" actId="14100"/>
        <pc:sldMkLst>
          <pc:docMk/>
          <pc:sldMk cId="1592638460" sldId="480"/>
        </pc:sldMkLst>
        <pc:spChg chg="mod">
          <ac:chgData name="всеволод левин" userId="88b003701cfbb3e4" providerId="LiveId" clId="{64C2A9C1-AB72-4524-9EA6-021C97AD3A74}" dt="2026-05-28T08:15:14.613" v="13" actId="14100"/>
          <ac:spMkLst>
            <pc:docMk/>
            <pc:sldMk cId="1592638460" sldId="480"/>
            <ac:spMk id="11" creationId="{13BAC630-070F-4819-ACFA-E5C7D457FC7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F7AC7B-00F5-48DD-8928-FD33BA30184F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B2B51-16B6-4AAD-80E4-269AF0A318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38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B2B51-16B6-4AAD-80E4-269AF0A3187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142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B2B51-16B6-4AAD-80E4-269AF0A3187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962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B2B51-16B6-4AAD-80E4-269AF0A3187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267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8D53A-05F5-42E3-9248-1C9A922B0D7D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81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5BF81-30EC-425C-9C10-F4F3CBC90A9B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12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6FA4A-AA55-48B9-927A-F42E01105DBF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62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D9862-AB45-4213-9098-004B8055FBF0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847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22C65-2965-4390-B318-516658698D26}" type="datetime1">
              <a:rPr lang="ru-RU" smtClean="0"/>
              <a:t>28.05.2026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99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CF804-77FA-47D1-B338-5356710F14E7}" type="datetime1">
              <a:rPr lang="ru-RU" smtClean="0"/>
              <a:t>28.05.2026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35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0962A-0F3E-4571-BE74-EAE82BBCA4D4}" type="datetime1">
              <a:rPr lang="ru-RU" smtClean="0"/>
              <a:t>28.05.2026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0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F18B-B19E-42B8-9D9E-101535B049A4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7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6D81C-426E-4E9E-9390-F0B26C742F84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3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7F776-1599-49BC-ACD6-65A87CD34868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77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7D979-18FC-4FF6-ABF9-7BDD1129789B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51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F131EB-79B3-4D7C-8CDF-4C3C6A8D1C28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7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2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8000" t="7000" r="1000" b="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7694" y="1704110"/>
            <a:ext cx="5411586" cy="1458884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Технология реверс-инжиниринга</a:t>
            </a:r>
            <a:b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Задание 3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49134" y="4089862"/>
            <a:ext cx="6201296" cy="212390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Ремигайло Егор Вячеславович, Левин Всеволод Максимович ТКИ-341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Профессор, </a:t>
            </a:r>
            <a:r>
              <a:rPr lang="ru-RU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д.т.н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Сидоренко Валентина Геннадьевна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Доцент, </a:t>
            </a:r>
            <a:r>
              <a:rPr lang="ru-RU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к.т.н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Сафронов Антон Игоревич </a:t>
            </a:r>
          </a:p>
        </p:txBody>
      </p:sp>
    </p:spTree>
    <p:extLst>
      <p:ext uri="{BB962C8B-B14F-4D97-AF65-F5344CB8AC3E}">
        <p14:creationId xmlns:p14="http://schemas.microsoft.com/office/powerpoint/2010/main" val="189063605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31263-0838-4F69-9F5D-CC4B33678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5900"/>
          </a:xfrm>
        </p:spPr>
        <p:txBody>
          <a:bodyPr>
            <a:normAutofit fontScale="90000"/>
          </a:bodyPr>
          <a:lstStyle/>
          <a:p>
            <a:r>
              <a:rPr lang="ru-RU" dirty="0"/>
              <a:t>Оглавление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6BA0D4A-8F98-4AA6-A0BD-6460A407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E55595-84E9-4DB6-8E3D-A870531756B2}"/>
              </a:ext>
            </a:extLst>
          </p:cNvPr>
          <p:cNvSpPr txBox="1"/>
          <p:nvPr/>
        </p:nvSpPr>
        <p:spPr>
          <a:xfrm>
            <a:off x="748145" y="1243031"/>
            <a:ext cx="428936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 indent="-449263"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Исходная программ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3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стр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49263" indent="-449263"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Программа на С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- 4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стр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49263" indent="-449263">
              <a:buAutoNum type="arabicPeriod"/>
            </a:pP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ILSpy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5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-6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стр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449263" indent="-449263">
              <a:buAutoNum type="arabicPeriod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.NET Reflector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7-8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стр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49263" indent="-449263"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Сравнение – 9-11 стр.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49263" indent="-449263">
              <a:buFontTx/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Расчет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12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стр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49263" indent="-449263">
              <a:buFontTx/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Выводы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13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стр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342900" indent="-342900">
              <a:buFontTx/>
              <a:buAutoNum type="arabicPeriod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417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Исходная программа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</a:t>
            </a:fld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5DFCA2-4BEA-4CC8-8B28-81CA3AC49A27}"/>
              </a:ext>
            </a:extLst>
          </p:cNvPr>
          <p:cNvSpPr txBox="1"/>
          <p:nvPr/>
        </p:nvSpPr>
        <p:spPr>
          <a:xfrm>
            <a:off x="4618155" y="6215746"/>
            <a:ext cx="3574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Исходный код на С</a:t>
            </a:r>
            <a:r>
              <a:rPr lang="en-US" dirty="0"/>
              <a:t>++</a:t>
            </a:r>
            <a:endParaRPr lang="ru-RU" dirty="0"/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2B42EDF-4FC7-4B7F-B7FF-1F4016DEE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8311" y="1163586"/>
            <a:ext cx="4904317" cy="50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751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56BF7C4-E4DD-48B8-AC1F-56418935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</a:t>
            </a:fld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AE61FC9-4278-4C7E-B894-D790F73AFD74}"/>
              </a:ext>
            </a:extLst>
          </p:cNvPr>
          <p:cNvSpPr txBox="1">
            <a:spLocks/>
          </p:cNvSpPr>
          <p:nvPr/>
        </p:nvSpPr>
        <p:spPr>
          <a:xfrm>
            <a:off x="412344" y="2066915"/>
            <a:ext cx="4268468" cy="275003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Программа на языке С, переведённая с языка С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++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при помощи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AI code converter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9C650A-654B-7E08-2617-257C6307CD52}"/>
              </a:ext>
            </a:extLst>
          </p:cNvPr>
          <p:cNvSpPr txBox="1"/>
          <p:nvPr/>
        </p:nvSpPr>
        <p:spPr>
          <a:xfrm>
            <a:off x="5920648" y="6106781"/>
            <a:ext cx="3605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Конвертированный код на язык </a:t>
            </a:r>
            <a:r>
              <a:rPr lang="en-US" dirty="0"/>
              <a:t>C#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C9F66D-6834-4845-9B97-53A58950C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812" y="1100817"/>
            <a:ext cx="6880925" cy="500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755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0526" y="319605"/>
            <a:ext cx="10515600" cy="640714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ILSpy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5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BAC630-070F-4819-ACFA-E5C7D457FC78}"/>
              </a:ext>
            </a:extLst>
          </p:cNvPr>
          <p:cNvSpPr txBox="1"/>
          <p:nvPr/>
        </p:nvSpPr>
        <p:spPr>
          <a:xfrm>
            <a:off x="3320754" y="6242618"/>
            <a:ext cx="6823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Ассемблерный листинг</a:t>
            </a:r>
            <a:r>
              <a:rPr lang="en-US" dirty="0"/>
              <a:t> </a:t>
            </a:r>
            <a:r>
              <a:rPr lang="ru-RU" dirty="0"/>
              <a:t> – дизассемблированный код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E0D1D9D7-BDDC-4147-8969-53DAFE126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741" y="1478512"/>
            <a:ext cx="6176683" cy="4268273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C8EA46F-3498-4EE0-AF61-056E3264E0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41" y="1540039"/>
            <a:ext cx="5909982" cy="420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755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6">
            <a:extLst>
              <a:ext uri="{FF2B5EF4-FFF2-40B4-BE49-F238E27FC236}">
                <a16:creationId xmlns:a16="http://schemas.microsoft.com/office/drawing/2014/main" id="{F622927B-8113-4CC0-851F-46631B094E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332" y="1208705"/>
            <a:ext cx="7299396" cy="5042863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56F443-4237-7C8F-4E97-D9CB5AE11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6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15E23EF-A18E-CC98-3C3C-9F2FD32F9907}"/>
              </a:ext>
            </a:extLst>
          </p:cNvPr>
          <p:cNvSpPr txBox="1">
            <a:spLocks/>
          </p:cNvSpPr>
          <p:nvPr/>
        </p:nvSpPr>
        <p:spPr>
          <a:xfrm>
            <a:off x="838200" y="463209"/>
            <a:ext cx="10515600" cy="640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ILSpy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B80F74B8-0610-6DAB-C5EF-1BBB6A0EF8B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3D2B9D-3E5A-4208-B841-6DCB29E9E020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4426A6-CF97-9A55-1426-863377485058}"/>
              </a:ext>
            </a:extLst>
          </p:cNvPr>
          <p:cNvSpPr txBox="1"/>
          <p:nvPr/>
        </p:nvSpPr>
        <p:spPr>
          <a:xfrm>
            <a:off x="4424902" y="6251568"/>
            <a:ext cx="6094674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Декомпилированный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c#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код</a:t>
            </a:r>
          </a:p>
        </p:txBody>
      </p:sp>
    </p:spTree>
    <p:extLst>
      <p:ext uri="{BB962C8B-B14F-4D97-AF65-F5344CB8AC3E}">
        <p14:creationId xmlns:p14="http://schemas.microsoft.com/office/powerpoint/2010/main" val="1552369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064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.NET Reflector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7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7A3692-C78E-49E4-B26F-444CFCEB932E}"/>
              </a:ext>
            </a:extLst>
          </p:cNvPr>
          <p:cNvSpPr txBox="1"/>
          <p:nvPr/>
        </p:nvSpPr>
        <p:spPr>
          <a:xfrm>
            <a:off x="7215447" y="4455622"/>
            <a:ext cx="357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Декомпилированный</a:t>
            </a:r>
            <a:r>
              <a:rPr lang="ru-RU" dirty="0"/>
              <a:t> С</a:t>
            </a:r>
            <a:r>
              <a:rPr lang="en-US" dirty="0"/>
              <a:t># </a:t>
            </a:r>
            <a:r>
              <a:rPr lang="ru-RU" dirty="0"/>
              <a:t>код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8612B758-714D-461D-B92C-46D59A5E1D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4066"/>
            <a:ext cx="6307348" cy="4137942"/>
          </a:xfr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AB7BDE9-932F-3237-4088-ED978CA4BF9C}"/>
              </a:ext>
            </a:extLst>
          </p:cNvPr>
          <p:cNvSpPr/>
          <p:nvPr/>
        </p:nvSpPr>
        <p:spPr>
          <a:xfrm>
            <a:off x="2799271" y="6223600"/>
            <a:ext cx="568777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dirty="0">
                <a:ln w="0"/>
                <a:latin typeface="Aptos" panose="020B0004020202020204" pitchFamily="34" charset="0"/>
              </a:rPr>
              <a:t>Ассемблерный листинг – дизассемблированный код</a:t>
            </a:r>
            <a:endParaRPr lang="ru-RU" b="0" cap="none" spc="0" dirty="0">
              <a:ln w="0"/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C48F484-6FAB-46E3-A222-91D3D11B56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365" y="1952523"/>
            <a:ext cx="6071635" cy="394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5865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74EB6E4-091B-3BC1-F4E1-101167255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8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B0CEA76-DF7A-5353-A352-14A7F251D21D}"/>
              </a:ext>
            </a:extLst>
          </p:cNvPr>
          <p:cNvSpPr txBox="1">
            <a:spLocks/>
          </p:cNvSpPr>
          <p:nvPr/>
        </p:nvSpPr>
        <p:spPr>
          <a:xfrm>
            <a:off x="838199" y="443251"/>
            <a:ext cx="10515600" cy="8006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.NET Reflector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A5C137A9-67C1-0515-4230-82A6D0F5985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3D2B9D-3E5A-4208-B841-6DCB29E9E020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370A17-5F2A-D238-0328-A2707414D5E1}"/>
              </a:ext>
            </a:extLst>
          </p:cNvPr>
          <p:cNvSpPr txBox="1"/>
          <p:nvPr/>
        </p:nvSpPr>
        <p:spPr>
          <a:xfrm>
            <a:off x="4607420" y="6127234"/>
            <a:ext cx="357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Декомпилированный</a:t>
            </a:r>
            <a:r>
              <a:rPr lang="ru-RU" dirty="0"/>
              <a:t> С</a:t>
            </a:r>
            <a:r>
              <a:rPr lang="en-US" dirty="0"/>
              <a:t># </a:t>
            </a:r>
            <a:r>
              <a:rPr lang="ru-RU" dirty="0"/>
              <a:t>код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D126F2-58CA-4122-B8F8-499200069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874" y="1307805"/>
            <a:ext cx="4122644" cy="481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199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AA11B8-2A4E-0895-E6CE-204044D6B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682740" cy="1017224"/>
          </a:xfrm>
        </p:spPr>
        <p:txBody>
          <a:bodyPr>
            <a:normAutofit fontScale="90000"/>
          </a:bodyPr>
          <a:lstStyle/>
          <a:p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СРАВНЕНИЕ </a:t>
            </a:r>
            <a:r>
              <a:rPr lang="ru-RU" sz="2800" dirty="0">
                <a:ln w="0"/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дизассемблированных кодов</a:t>
            </a:r>
            <a:b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ru-RU" sz="28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134677-2984-7523-EECE-692B1DAA7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5B39D7-E7C9-7681-9113-1BCE9A69B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9</a:t>
            </a:fld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3A645BB-23BC-0616-D1EE-5311FCD23AE2}"/>
              </a:ext>
            </a:extLst>
          </p:cNvPr>
          <p:cNvSpPr/>
          <p:nvPr/>
        </p:nvSpPr>
        <p:spPr>
          <a:xfrm>
            <a:off x="928687" y="1802605"/>
            <a:ext cx="158433" cy="22383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C1A4A44-4199-50E0-B03A-76D25E4AC337}"/>
              </a:ext>
            </a:extLst>
          </p:cNvPr>
          <p:cNvSpPr/>
          <p:nvPr/>
        </p:nvSpPr>
        <p:spPr>
          <a:xfrm>
            <a:off x="6000750" y="3071813"/>
            <a:ext cx="1009650" cy="12223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EAD1BC6-9992-16B1-4CA5-A6B2C3D38E87}"/>
              </a:ext>
            </a:extLst>
          </p:cNvPr>
          <p:cNvSpPr/>
          <p:nvPr/>
        </p:nvSpPr>
        <p:spPr>
          <a:xfrm>
            <a:off x="927099" y="3071813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275849D-13C4-B63D-8FE4-F9ED2D1657D2}"/>
              </a:ext>
            </a:extLst>
          </p:cNvPr>
          <p:cNvSpPr/>
          <p:nvPr/>
        </p:nvSpPr>
        <p:spPr>
          <a:xfrm>
            <a:off x="927099" y="3381374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F4EBD5A-DD3B-BD73-663D-5D496E1F9ACB}"/>
              </a:ext>
            </a:extLst>
          </p:cNvPr>
          <p:cNvSpPr/>
          <p:nvPr/>
        </p:nvSpPr>
        <p:spPr>
          <a:xfrm>
            <a:off x="927099" y="3602035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3196F9C-AAA2-1E4D-3C30-585BF91E839D}"/>
              </a:ext>
            </a:extLst>
          </p:cNvPr>
          <p:cNvSpPr/>
          <p:nvPr/>
        </p:nvSpPr>
        <p:spPr>
          <a:xfrm>
            <a:off x="927099" y="3983036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7809015-1A20-E05A-ADFD-976F354F42F9}"/>
              </a:ext>
            </a:extLst>
          </p:cNvPr>
          <p:cNvSpPr/>
          <p:nvPr/>
        </p:nvSpPr>
        <p:spPr>
          <a:xfrm>
            <a:off x="928687" y="4202905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89D049D-D91F-DB97-F000-1E2C3C02616C}"/>
              </a:ext>
            </a:extLst>
          </p:cNvPr>
          <p:cNvSpPr/>
          <p:nvPr/>
        </p:nvSpPr>
        <p:spPr>
          <a:xfrm>
            <a:off x="6000750" y="4601108"/>
            <a:ext cx="1009650" cy="12223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A442E0A-4D6C-C6CB-4889-7E6CAF40950F}"/>
              </a:ext>
            </a:extLst>
          </p:cNvPr>
          <p:cNvSpPr/>
          <p:nvPr/>
        </p:nvSpPr>
        <p:spPr>
          <a:xfrm>
            <a:off x="6000750" y="3776532"/>
            <a:ext cx="1009650" cy="12223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D3F1C14-7CFD-A170-54FE-3F879187144F}"/>
              </a:ext>
            </a:extLst>
          </p:cNvPr>
          <p:cNvSpPr/>
          <p:nvPr/>
        </p:nvSpPr>
        <p:spPr>
          <a:xfrm>
            <a:off x="6000750" y="3477023"/>
            <a:ext cx="1009650" cy="12223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56FA3D18-6373-6DB9-A7CB-CF947CE5FD5E}"/>
              </a:ext>
            </a:extLst>
          </p:cNvPr>
          <p:cNvSpPr/>
          <p:nvPr/>
        </p:nvSpPr>
        <p:spPr>
          <a:xfrm>
            <a:off x="6000750" y="4295773"/>
            <a:ext cx="1009650" cy="12223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31F948D-7C37-32E0-2655-BD71590B98E5}"/>
              </a:ext>
            </a:extLst>
          </p:cNvPr>
          <p:cNvSpPr/>
          <p:nvPr/>
        </p:nvSpPr>
        <p:spPr>
          <a:xfrm>
            <a:off x="2927551" y="6345762"/>
            <a:ext cx="72103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 err="1">
                <a:latin typeface="Aptos" panose="020B0004020202020204" pitchFamily="34" charset="0"/>
                <a:cs typeface="Arial" panose="020B0604020202020204" pitchFamily="34" charset="0"/>
              </a:rPr>
              <a:t>ILSpy</a:t>
            </a:r>
            <a:endParaRPr lang="ru-RU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A31214-3B93-CB8C-4555-AB037C408622}"/>
              </a:ext>
            </a:extLst>
          </p:cNvPr>
          <p:cNvSpPr txBox="1"/>
          <p:nvPr/>
        </p:nvSpPr>
        <p:spPr>
          <a:xfrm>
            <a:off x="5495420" y="64354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Aptos" panose="020B0004020202020204" pitchFamily="34" charset="0"/>
                <a:cs typeface="Arial" panose="020B0604020202020204" pitchFamily="34" charset="0"/>
              </a:rPr>
              <a:t>.Net</a:t>
            </a:r>
            <a:r>
              <a:rPr lang="en-US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  <a:t>Reflector</a:t>
            </a:r>
            <a:endParaRPr lang="ru-RU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2361105-15F3-4EBC-814E-298E34952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0289"/>
            <a:ext cx="5909982" cy="4204417"/>
          </a:xfrm>
          <a:prstGeom prst="rect">
            <a:avLst/>
          </a:prstGeom>
        </p:spPr>
      </p:pic>
      <p:pic>
        <p:nvPicPr>
          <p:cNvPr id="36" name="Объект 6">
            <a:extLst>
              <a:ext uri="{FF2B5EF4-FFF2-40B4-BE49-F238E27FC236}">
                <a16:creationId xmlns:a16="http://schemas.microsoft.com/office/drawing/2014/main" id="{46C94DEE-996D-4066-9D8A-8106B8B04D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652" y="1530289"/>
            <a:ext cx="6307348" cy="4137942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B295B3C-3DB1-445A-821A-4E48682F9EFF}"/>
              </a:ext>
            </a:extLst>
          </p:cNvPr>
          <p:cNvSpPr/>
          <p:nvPr/>
        </p:nvSpPr>
        <p:spPr>
          <a:xfrm>
            <a:off x="259976" y="2294966"/>
            <a:ext cx="667123" cy="45710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D8723D7-F53B-43D6-A11D-26893BD316E8}"/>
              </a:ext>
            </a:extLst>
          </p:cNvPr>
          <p:cNvSpPr/>
          <p:nvPr/>
        </p:nvSpPr>
        <p:spPr>
          <a:xfrm>
            <a:off x="6185646" y="2171436"/>
            <a:ext cx="667123" cy="45710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0DAAD121-2E0D-449A-BB14-8C31E6ECE0A9}"/>
              </a:ext>
            </a:extLst>
          </p:cNvPr>
          <p:cNvSpPr/>
          <p:nvPr/>
        </p:nvSpPr>
        <p:spPr>
          <a:xfrm>
            <a:off x="5995520" y="4014938"/>
            <a:ext cx="1122456" cy="1791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988316DC-5D82-44CB-BB29-3D37F6748ACB}"/>
              </a:ext>
            </a:extLst>
          </p:cNvPr>
          <p:cNvSpPr/>
          <p:nvPr/>
        </p:nvSpPr>
        <p:spPr>
          <a:xfrm>
            <a:off x="111847" y="4023738"/>
            <a:ext cx="1122456" cy="1791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737CB737-6DFB-4F25-BCC8-CE2D27B39826}"/>
              </a:ext>
            </a:extLst>
          </p:cNvPr>
          <p:cNvSpPr/>
          <p:nvPr/>
        </p:nvSpPr>
        <p:spPr>
          <a:xfrm>
            <a:off x="111847" y="4749156"/>
            <a:ext cx="1122456" cy="1791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9AFDE91F-0081-4919-8E22-8E870919874E}"/>
              </a:ext>
            </a:extLst>
          </p:cNvPr>
          <p:cNvSpPr/>
          <p:nvPr/>
        </p:nvSpPr>
        <p:spPr>
          <a:xfrm>
            <a:off x="6001658" y="4471973"/>
            <a:ext cx="1122456" cy="1791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117F0105-61C8-44F4-9036-42FD2470968B}"/>
              </a:ext>
            </a:extLst>
          </p:cNvPr>
          <p:cNvSpPr/>
          <p:nvPr/>
        </p:nvSpPr>
        <p:spPr>
          <a:xfrm>
            <a:off x="5969909" y="4945168"/>
            <a:ext cx="1122456" cy="1791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312AD9D7-C4CB-4ADF-B40F-A7449C51151F}"/>
              </a:ext>
            </a:extLst>
          </p:cNvPr>
          <p:cNvSpPr/>
          <p:nvPr/>
        </p:nvSpPr>
        <p:spPr>
          <a:xfrm>
            <a:off x="111847" y="5062764"/>
            <a:ext cx="1122456" cy="1791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97657377-5DD4-43CE-8162-D55306A0CEEE}"/>
              </a:ext>
            </a:extLst>
          </p:cNvPr>
          <p:cNvSpPr/>
          <p:nvPr/>
        </p:nvSpPr>
        <p:spPr>
          <a:xfrm>
            <a:off x="105273" y="5455720"/>
            <a:ext cx="1122456" cy="1791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EF4E1D09-DECC-421F-BFF7-DD3414823991}"/>
              </a:ext>
            </a:extLst>
          </p:cNvPr>
          <p:cNvSpPr/>
          <p:nvPr/>
        </p:nvSpPr>
        <p:spPr>
          <a:xfrm>
            <a:off x="6071496" y="5366136"/>
            <a:ext cx="1122456" cy="1791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3794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F295D3-01A3-7A72-16A8-7B601FA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10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F64E722-EC60-1BC8-029B-D0E1E5A1CF36}"/>
              </a:ext>
            </a:extLst>
          </p:cNvPr>
          <p:cNvSpPr txBox="1">
            <a:spLocks/>
          </p:cNvSpPr>
          <p:nvPr/>
        </p:nvSpPr>
        <p:spPr>
          <a:xfrm>
            <a:off x="861060" y="365125"/>
            <a:ext cx="5162550" cy="912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СРАВНЕНИЕ </a:t>
            </a:r>
            <a:r>
              <a:rPr lang="ru-RU" sz="2800" dirty="0">
                <a:ln w="0"/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дизассемблированных кодов</a:t>
            </a:r>
            <a:b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ru-RU" sz="2800" dirty="0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A6D08FD8-4A4F-2637-5ECE-2DE3367DCE92}"/>
              </a:ext>
            </a:extLst>
          </p:cNvPr>
          <p:cNvSpPr txBox="1">
            <a:spLocks/>
          </p:cNvSpPr>
          <p:nvPr/>
        </p:nvSpPr>
        <p:spPr>
          <a:xfrm>
            <a:off x="86334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B11C85F-E1ED-464E-C8B3-D4505F765045}"/>
              </a:ext>
            </a:extLst>
          </p:cNvPr>
          <p:cNvSpPr/>
          <p:nvPr/>
        </p:nvSpPr>
        <p:spPr>
          <a:xfrm>
            <a:off x="951547" y="1802605"/>
            <a:ext cx="158433" cy="22383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40BEA6C-5FE4-ABAA-76B2-A135008EC735}"/>
              </a:ext>
            </a:extLst>
          </p:cNvPr>
          <p:cNvSpPr/>
          <p:nvPr/>
        </p:nvSpPr>
        <p:spPr>
          <a:xfrm>
            <a:off x="949959" y="3071813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A7D4054-9D09-808A-C385-F46CA5379733}"/>
              </a:ext>
            </a:extLst>
          </p:cNvPr>
          <p:cNvSpPr/>
          <p:nvPr/>
        </p:nvSpPr>
        <p:spPr>
          <a:xfrm>
            <a:off x="949959" y="3381374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67846E2-0DDF-A47C-4674-6205CFE22BD2}"/>
              </a:ext>
            </a:extLst>
          </p:cNvPr>
          <p:cNvSpPr/>
          <p:nvPr/>
        </p:nvSpPr>
        <p:spPr>
          <a:xfrm>
            <a:off x="949959" y="3602035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C995CB2-7ADF-F23F-F68E-30F7AB55E0D8}"/>
              </a:ext>
            </a:extLst>
          </p:cNvPr>
          <p:cNvSpPr/>
          <p:nvPr/>
        </p:nvSpPr>
        <p:spPr>
          <a:xfrm>
            <a:off x="949959" y="3983036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652E0EA-3E5D-13BC-158C-E2ACA48BF2E2}"/>
              </a:ext>
            </a:extLst>
          </p:cNvPr>
          <p:cNvSpPr/>
          <p:nvPr/>
        </p:nvSpPr>
        <p:spPr>
          <a:xfrm>
            <a:off x="951547" y="4202905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351FD34-377A-3F6F-8A94-1FF37585BBF5}"/>
              </a:ext>
            </a:extLst>
          </p:cNvPr>
          <p:cNvSpPr/>
          <p:nvPr/>
        </p:nvSpPr>
        <p:spPr>
          <a:xfrm>
            <a:off x="6023610" y="4601108"/>
            <a:ext cx="1009650" cy="12223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22813B7-E84F-C6BA-3DD6-4CCCB40984AD}"/>
              </a:ext>
            </a:extLst>
          </p:cNvPr>
          <p:cNvSpPr/>
          <p:nvPr/>
        </p:nvSpPr>
        <p:spPr>
          <a:xfrm>
            <a:off x="6023610" y="3776532"/>
            <a:ext cx="1009650" cy="12223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2B6886F-54F4-4681-2142-0905361A91B6}"/>
              </a:ext>
            </a:extLst>
          </p:cNvPr>
          <p:cNvSpPr/>
          <p:nvPr/>
        </p:nvSpPr>
        <p:spPr>
          <a:xfrm>
            <a:off x="6023610" y="3477023"/>
            <a:ext cx="1009650" cy="12223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DD48736-F5C7-6B17-E72D-B1705BB78782}"/>
              </a:ext>
            </a:extLst>
          </p:cNvPr>
          <p:cNvSpPr/>
          <p:nvPr/>
        </p:nvSpPr>
        <p:spPr>
          <a:xfrm>
            <a:off x="6023610" y="4295773"/>
            <a:ext cx="1009650" cy="12223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9059480-CC92-E8E1-2C4D-A370ED741F72}"/>
              </a:ext>
            </a:extLst>
          </p:cNvPr>
          <p:cNvSpPr/>
          <p:nvPr/>
        </p:nvSpPr>
        <p:spPr>
          <a:xfrm>
            <a:off x="2749597" y="6378733"/>
            <a:ext cx="78329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 err="1">
                <a:latin typeface="Aptos" panose="020B0004020202020204" pitchFamily="34" charset="0"/>
                <a:cs typeface="Arial" panose="020B0604020202020204" pitchFamily="34" charset="0"/>
              </a:rPr>
              <a:t>ILSpy</a:t>
            </a:r>
            <a:endParaRPr lang="ru-RU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F811C82-B96A-FF72-A7E0-FF907A55A620}"/>
              </a:ext>
            </a:extLst>
          </p:cNvPr>
          <p:cNvSpPr/>
          <p:nvPr/>
        </p:nvSpPr>
        <p:spPr>
          <a:xfrm>
            <a:off x="949958" y="2434508"/>
            <a:ext cx="941451" cy="11184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79990DB-CC48-5B83-4D87-C0F2509D0487}"/>
              </a:ext>
            </a:extLst>
          </p:cNvPr>
          <p:cNvSpPr/>
          <p:nvPr/>
        </p:nvSpPr>
        <p:spPr>
          <a:xfrm>
            <a:off x="6205220" y="2762126"/>
            <a:ext cx="941451" cy="11184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150798C-7D8B-BAD1-51B7-D019021DD7CC}"/>
              </a:ext>
            </a:extLst>
          </p:cNvPr>
          <p:cNvSpPr/>
          <p:nvPr/>
        </p:nvSpPr>
        <p:spPr>
          <a:xfrm>
            <a:off x="810962" y="5219457"/>
            <a:ext cx="941451" cy="11184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58B33E1-2128-407F-56F3-26CE65E9FEAD}"/>
              </a:ext>
            </a:extLst>
          </p:cNvPr>
          <p:cNvSpPr/>
          <p:nvPr/>
        </p:nvSpPr>
        <p:spPr>
          <a:xfrm>
            <a:off x="6143369" y="5582264"/>
            <a:ext cx="941451" cy="11184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DE87A5-6ECE-6D28-CBEA-B243CF2ABD3F}"/>
              </a:ext>
            </a:extLst>
          </p:cNvPr>
          <p:cNvSpPr txBox="1"/>
          <p:nvPr/>
        </p:nvSpPr>
        <p:spPr>
          <a:xfrm>
            <a:off x="5010150" y="64064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Aptos" panose="020B0004020202020204" pitchFamily="34" charset="0"/>
                <a:cs typeface="Arial" panose="020B0604020202020204" pitchFamily="34" charset="0"/>
              </a:rPr>
              <a:t>.Net</a:t>
            </a:r>
            <a:r>
              <a:rPr lang="en-US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  <a:t>Reflector</a:t>
            </a:r>
            <a:endParaRPr lang="ru-RU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B67174-1552-455A-80B2-40A0BD624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95D1AE3C-313B-4AA5-AEA4-8EA0C04EF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365" y="1952523"/>
            <a:ext cx="6071635" cy="3942620"/>
          </a:xfrm>
          <a:prstGeom prst="rect">
            <a:avLst/>
          </a:prstGeom>
        </p:spPr>
      </p:pic>
      <p:pic>
        <p:nvPicPr>
          <p:cNvPr id="32" name="Объект 6">
            <a:extLst>
              <a:ext uri="{FF2B5EF4-FFF2-40B4-BE49-F238E27FC236}">
                <a16:creationId xmlns:a16="http://schemas.microsoft.com/office/drawing/2014/main" id="{00CDB7FC-6DC2-46A2-A494-3D361D6B53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902" y="1626870"/>
            <a:ext cx="6176683" cy="4268273"/>
          </a:xfrm>
          <a:prstGeom prst="rect">
            <a:avLst/>
          </a:prstGeom>
        </p:spPr>
      </p:pic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B840D74-ABBD-4A3B-B40F-69E5DCC59D0F}"/>
              </a:ext>
            </a:extLst>
          </p:cNvPr>
          <p:cNvSpPr/>
          <p:nvPr/>
        </p:nvSpPr>
        <p:spPr>
          <a:xfrm>
            <a:off x="6277540" y="3977807"/>
            <a:ext cx="1122456" cy="1791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76ACF6A-3F56-401B-8B87-C5FD642C89E1}"/>
              </a:ext>
            </a:extLst>
          </p:cNvPr>
          <p:cNvSpPr/>
          <p:nvPr/>
        </p:nvSpPr>
        <p:spPr>
          <a:xfrm>
            <a:off x="-52111" y="3788010"/>
            <a:ext cx="1122456" cy="1791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3B14121-4E5D-4A07-9B22-C00CD9078CA7}"/>
              </a:ext>
            </a:extLst>
          </p:cNvPr>
          <p:cNvSpPr/>
          <p:nvPr/>
        </p:nvSpPr>
        <p:spPr>
          <a:xfrm>
            <a:off x="82480" y="3142872"/>
            <a:ext cx="1122456" cy="1791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184E0817-1D91-4363-A54E-EC38EB294A5E}"/>
              </a:ext>
            </a:extLst>
          </p:cNvPr>
          <p:cNvSpPr/>
          <p:nvPr/>
        </p:nvSpPr>
        <p:spPr>
          <a:xfrm>
            <a:off x="6222809" y="3503831"/>
            <a:ext cx="1122456" cy="1791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5940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8B0AC39-E1AC-E85F-3526-53D3C5303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88DB80-FAE2-57FD-8E24-1D2D822F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11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D48B4DF-3C91-A0EF-4689-90C50718780F}"/>
              </a:ext>
            </a:extLst>
          </p:cNvPr>
          <p:cNvSpPr txBox="1">
            <a:spLocks/>
          </p:cNvSpPr>
          <p:nvPr/>
        </p:nvSpPr>
        <p:spPr>
          <a:xfrm>
            <a:off x="861060" y="365125"/>
            <a:ext cx="5844540" cy="1013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СРАВНЕНИЕ </a:t>
            </a:r>
            <a:r>
              <a:rPr lang="ru-RU" sz="28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декомпилированных</a:t>
            </a:r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кодов</a:t>
            </a:r>
            <a:b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endParaRPr lang="ru-RU" sz="2800" dirty="0"/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80AE8D9D-E8BF-E295-6EED-2803E869D414}"/>
              </a:ext>
            </a:extLst>
          </p:cNvPr>
          <p:cNvSpPr txBox="1">
            <a:spLocks/>
          </p:cNvSpPr>
          <p:nvPr/>
        </p:nvSpPr>
        <p:spPr>
          <a:xfrm>
            <a:off x="8633460" y="6356350"/>
            <a:ext cx="9953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BD77FF8-6B81-FC09-107E-8C3948C1C8E5}"/>
              </a:ext>
            </a:extLst>
          </p:cNvPr>
          <p:cNvSpPr/>
          <p:nvPr/>
        </p:nvSpPr>
        <p:spPr>
          <a:xfrm>
            <a:off x="951547" y="1802605"/>
            <a:ext cx="158433" cy="22383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D34FF79-19D4-6A46-EB7C-8E06A27C1FF1}"/>
              </a:ext>
            </a:extLst>
          </p:cNvPr>
          <p:cNvSpPr/>
          <p:nvPr/>
        </p:nvSpPr>
        <p:spPr>
          <a:xfrm>
            <a:off x="949959" y="3071813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65B5C71-370C-71AB-2BE3-68BC03F0868D}"/>
              </a:ext>
            </a:extLst>
          </p:cNvPr>
          <p:cNvSpPr/>
          <p:nvPr/>
        </p:nvSpPr>
        <p:spPr>
          <a:xfrm>
            <a:off x="949959" y="3381374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A65C6AB-8F93-DE7D-AFD2-AFD237C44E29}"/>
              </a:ext>
            </a:extLst>
          </p:cNvPr>
          <p:cNvSpPr/>
          <p:nvPr/>
        </p:nvSpPr>
        <p:spPr>
          <a:xfrm>
            <a:off x="949959" y="3602035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2C19539-D990-62A5-D60D-72174B85AAF6}"/>
              </a:ext>
            </a:extLst>
          </p:cNvPr>
          <p:cNvSpPr/>
          <p:nvPr/>
        </p:nvSpPr>
        <p:spPr>
          <a:xfrm>
            <a:off x="949959" y="3983036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B128A31-6124-D454-21E4-7B7AA071B98C}"/>
              </a:ext>
            </a:extLst>
          </p:cNvPr>
          <p:cNvSpPr/>
          <p:nvPr/>
        </p:nvSpPr>
        <p:spPr>
          <a:xfrm>
            <a:off x="951547" y="4202905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7D18737-7D4D-4DEC-BC2A-5C349F3D3146}"/>
              </a:ext>
            </a:extLst>
          </p:cNvPr>
          <p:cNvSpPr/>
          <p:nvPr/>
        </p:nvSpPr>
        <p:spPr>
          <a:xfrm>
            <a:off x="2749597" y="6378733"/>
            <a:ext cx="78329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 err="1">
                <a:latin typeface="Aptos" panose="020B0004020202020204" pitchFamily="34" charset="0"/>
                <a:cs typeface="Arial" panose="020B0604020202020204" pitchFamily="34" charset="0"/>
              </a:rPr>
              <a:t>ILSpy</a:t>
            </a:r>
            <a:endParaRPr lang="ru-RU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96E369A-11B2-7CEE-035B-FF3E274C1CE0}"/>
              </a:ext>
            </a:extLst>
          </p:cNvPr>
          <p:cNvSpPr/>
          <p:nvPr/>
        </p:nvSpPr>
        <p:spPr>
          <a:xfrm>
            <a:off x="949958" y="2434508"/>
            <a:ext cx="941451" cy="11184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1C8EF91-F25D-C101-1FCC-88B102094998}"/>
              </a:ext>
            </a:extLst>
          </p:cNvPr>
          <p:cNvSpPr/>
          <p:nvPr/>
        </p:nvSpPr>
        <p:spPr>
          <a:xfrm>
            <a:off x="810962" y="5219457"/>
            <a:ext cx="941451" cy="11184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EF812D-CE2B-960D-68E0-9FD84C4BEBB9}"/>
              </a:ext>
            </a:extLst>
          </p:cNvPr>
          <p:cNvSpPr txBox="1"/>
          <p:nvPr/>
        </p:nvSpPr>
        <p:spPr>
          <a:xfrm>
            <a:off x="3755246" y="6431055"/>
            <a:ext cx="4680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Aptos" panose="020B0004020202020204" pitchFamily="34" charset="0"/>
                <a:cs typeface="Arial" panose="020B0604020202020204" pitchFamily="34" charset="0"/>
              </a:rPr>
              <a:t>.Net</a:t>
            </a:r>
            <a:r>
              <a:rPr lang="en-US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  <a:t>Reflector</a:t>
            </a:r>
            <a:endParaRPr lang="ru-RU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Объект 6">
            <a:extLst>
              <a:ext uri="{FF2B5EF4-FFF2-40B4-BE49-F238E27FC236}">
                <a16:creationId xmlns:a16="http://schemas.microsoft.com/office/drawing/2014/main" id="{4B27BE78-8BE0-4219-8038-06DCACF65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8250"/>
            <a:ext cx="6391333" cy="4415518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BA09A06-1D43-4E30-BF21-87DB2E641D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973" y="1484580"/>
            <a:ext cx="4122644" cy="481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198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064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Расчет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12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BAC630-070F-4819-ACFA-E5C7D457FC78}"/>
              </a:ext>
            </a:extLst>
          </p:cNvPr>
          <p:cNvSpPr txBox="1"/>
          <p:nvPr/>
        </p:nvSpPr>
        <p:spPr>
          <a:xfrm>
            <a:off x="589425" y="1194427"/>
            <a:ext cx="338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Dump </a:t>
            </a:r>
            <a:r>
              <a:rPr lang="ru-RU" dirty="0"/>
              <a:t>в расширении </a:t>
            </a:r>
            <a:r>
              <a:rPr lang="en-US" dirty="0" err="1"/>
              <a:t>radare</a:t>
            </a:r>
            <a:r>
              <a:rPr lang="en-US" dirty="0"/>
              <a:t> 2.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F94C42-19F7-4305-A55A-4F8B3B22B297}"/>
              </a:ext>
            </a:extLst>
          </p:cNvPr>
          <p:cNvSpPr txBox="1"/>
          <p:nvPr/>
        </p:nvSpPr>
        <p:spPr>
          <a:xfrm>
            <a:off x="7506067" y="6041986"/>
            <a:ext cx="3524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Данные о файле </a:t>
            </a:r>
            <a:r>
              <a:rPr lang="en-US" dirty="0"/>
              <a:t>DLI </a:t>
            </a:r>
            <a:r>
              <a:rPr lang="ru-RU" dirty="0"/>
              <a:t>кода </a:t>
            </a:r>
            <a:r>
              <a:rPr lang="en-US" dirty="0"/>
              <a:t>C#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EEB0C87-E024-4C70-9D8B-9F250373B6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374" y="2065026"/>
            <a:ext cx="5601626" cy="3666803"/>
          </a:xfrm>
          <a:prstGeom prst="rect">
            <a:avLst/>
          </a:prstGeom>
        </p:spPr>
      </p:pic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6D012C7D-A5A3-4940-A8C4-3FF51D349F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7580" y="1869415"/>
            <a:ext cx="7329775" cy="3029258"/>
          </a:xfrm>
        </p:spPr>
      </p:pic>
    </p:spTree>
    <p:extLst>
      <p:ext uri="{BB962C8B-B14F-4D97-AF65-F5344CB8AC3E}">
        <p14:creationId xmlns:p14="http://schemas.microsoft.com/office/powerpoint/2010/main" val="15926384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064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Выводы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13</a:t>
            </a:fld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9D3473F-405A-4C6F-997B-A3443C111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Автоматизированная конвертация исходного кода из C++ в C# была выполнена успешно с первой попытки, не потребовав дополнительных итераций исправления логики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r>
              <a:rPr lang="ru-RU" dirty="0"/>
              <a:t>При сопоставлении результатов декомпиляции в </a:t>
            </a:r>
            <a:r>
              <a:rPr lang="ru-RU" dirty="0" err="1"/>
              <a:t>ILSpy</a:t>
            </a:r>
            <a:r>
              <a:rPr lang="ru-RU" dirty="0"/>
              <a:t> и .NET </a:t>
            </a:r>
            <a:r>
              <a:rPr lang="ru-RU" dirty="0" err="1"/>
              <a:t>Reflector</a:t>
            </a:r>
            <a:r>
              <a:rPr lang="ru-RU" dirty="0"/>
              <a:t> была отмечена высокая степень идентичности восстановленного кода. И с точки зрения эргономики и интуитивности интерфейса .NET </a:t>
            </a:r>
            <a:r>
              <a:rPr lang="ru-RU" dirty="0" err="1"/>
              <a:t>Reflector</a:t>
            </a:r>
            <a:r>
              <a:rPr lang="ru-RU" dirty="0"/>
              <a:t> и </a:t>
            </a:r>
            <a:r>
              <a:rPr lang="ru-RU" dirty="0" err="1"/>
              <a:t>ILSpy</a:t>
            </a:r>
            <a:r>
              <a:rPr lang="ru-RU" dirty="0"/>
              <a:t> продемонстрировали одинаковую </a:t>
            </a:r>
            <a:r>
              <a:rPr lang="ru-RU"/>
              <a:t>степень удобства.</a:t>
            </a:r>
            <a:endParaRPr lang="ru-RU" dirty="0"/>
          </a:p>
          <a:p>
            <a:r>
              <a:rPr lang="ru-RU" dirty="0"/>
              <a:t>Выявлены различия в представлении промежуточного кода: .NET </a:t>
            </a:r>
            <a:r>
              <a:rPr lang="ru-RU" dirty="0" err="1"/>
              <a:t>Reflector</a:t>
            </a:r>
            <a:r>
              <a:rPr lang="ru-RU" dirty="0"/>
              <a:t> использует префикс меток </a:t>
            </a:r>
            <a:r>
              <a:rPr lang="en-US" dirty="0"/>
              <a:t>L_0000</a:t>
            </a:r>
            <a:r>
              <a:rPr lang="ru-RU" dirty="0"/>
              <a:t>, в то время как для </a:t>
            </a:r>
            <a:r>
              <a:rPr lang="ru-RU" dirty="0" err="1"/>
              <a:t>ILSpy</a:t>
            </a:r>
            <a:r>
              <a:rPr lang="ru-RU" dirty="0"/>
              <a:t> характерен </a:t>
            </a:r>
            <a:r>
              <a:rPr lang="en-US" dirty="0"/>
              <a:t>IL_0000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79500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1674</TotalTime>
  <Words>284</Words>
  <Application>Microsoft Office PowerPoint</Application>
  <PresentationFormat>Широкоэкранный</PresentationFormat>
  <Paragraphs>64</Paragraphs>
  <Slides>13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Aptos</vt:lpstr>
      <vt:lpstr>Arial</vt:lpstr>
      <vt:lpstr>Arial Black</vt:lpstr>
      <vt:lpstr>Calibri</vt:lpstr>
      <vt:lpstr>Calibri Light</vt:lpstr>
      <vt:lpstr>quote-cjk-patch</vt:lpstr>
      <vt:lpstr>Тема Office</vt:lpstr>
      <vt:lpstr>Технология реверс-инжиниринга Задание 3</vt:lpstr>
      <vt:lpstr>Оглавление</vt:lpstr>
      <vt:lpstr>Исходная программа</vt:lpstr>
      <vt:lpstr>Презентация PowerPoint</vt:lpstr>
      <vt:lpstr>ILSpy</vt:lpstr>
      <vt:lpstr>Презентация PowerPoint</vt:lpstr>
      <vt:lpstr>.NET Reflector</vt:lpstr>
      <vt:lpstr>Презентация PowerPoint</vt:lpstr>
      <vt:lpstr>СРАВНЕНИЕ дизассемблированных кодов </vt:lpstr>
      <vt:lpstr>Презентация PowerPoint</vt:lpstr>
      <vt:lpstr>Презентация PowerPoint</vt:lpstr>
      <vt:lpstr>Расчет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Print</dc:creator>
  <cp:lastModifiedBy>всеволод левин</cp:lastModifiedBy>
  <cp:revision>231</cp:revision>
  <dcterms:created xsi:type="dcterms:W3CDTF">2021-11-29T10:22:08Z</dcterms:created>
  <dcterms:modified xsi:type="dcterms:W3CDTF">2026-05-28T08:15:29Z</dcterms:modified>
</cp:coreProperties>
</file>