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sldIdLst>
    <p:sldId id="267" r:id="rId2"/>
    <p:sldId id="328" r:id="rId3"/>
    <p:sldId id="491" r:id="rId4"/>
    <p:sldId id="280" r:id="rId5"/>
    <p:sldId id="486" r:id="rId6"/>
    <p:sldId id="487" r:id="rId7"/>
    <p:sldId id="492" r:id="rId8"/>
    <p:sldId id="488" r:id="rId9"/>
    <p:sldId id="489" r:id="rId10"/>
    <p:sldId id="490" r:id="rId11"/>
    <p:sldId id="310" r:id="rId12"/>
  </p:sldIdLst>
  <p:sldSz cx="12192000" cy="6858000"/>
  <p:notesSz cx="6858000" cy="9144000"/>
  <p:embeddedFontLst>
    <p:embeddedFont>
      <p:font typeface="等线" panose="02010600030101010101" pitchFamily="2" charset="-122"/>
      <p:regular r:id="rId14"/>
    </p:embeddedFont>
    <p:embeddedFont>
      <p:font typeface="Akrobat" panose="020B0604020202020204" charset="-52"/>
      <p:regular r:id="rId15"/>
      <p:bold r:id="rId16"/>
    </p:embeddedFont>
    <p:embeddedFont>
      <p:font typeface="Akrobat Black" panose="020B0604020202020204" charset="-52"/>
      <p:bold r:id="rId17"/>
    </p:embeddedFont>
    <p:embeddedFont>
      <p:font typeface="Arial Black" panose="020B0A04020102020204" pitchFamily="34" charset="0"/>
      <p:bold r:id="rId18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Левахина Ксения Сергеевна" initials="ЛКС" lastIdx="5" clrIdx="0">
    <p:extLst>
      <p:ext uri="{19B8F6BF-5375-455C-9EA6-DF929625EA0E}">
        <p15:presenceInfo xmlns:p15="http://schemas.microsoft.com/office/powerpoint/2012/main" userId="Левахина Ксения Сергеевна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D2D6E"/>
    <a:srgbClr val="C33674"/>
    <a:srgbClr val="440EA5"/>
    <a:srgbClr val="1604C0"/>
    <a:srgbClr val="3536B0"/>
    <a:srgbClr val="063971"/>
    <a:srgbClr val="8B19A3"/>
    <a:srgbClr val="7D1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64" y="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3D24B569-3539-B230-BF23-AE29C7851C1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Aptos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F1D6893-FF24-CCB2-32C4-6D3BAD9A3AB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C8105D2D-B396-4D12-B05A-CB356EB9FD37}" type="datetimeFigureOut">
              <a:rPr lang="ru-RU"/>
              <a:pPr>
                <a:defRPr/>
              </a:pPr>
              <a:t>04.06.2026</a:t>
            </a:fld>
            <a:endParaRPr lang="ru-RU"/>
          </a:p>
        </p:txBody>
      </p:sp>
      <p:sp>
        <p:nvSpPr>
          <p:cNvPr id="2052" name="Образ слайда 3">
            <a:extLst>
              <a:ext uri="{FF2B5EF4-FFF2-40B4-BE49-F238E27FC236}">
                <a16:creationId xmlns:a16="http://schemas.microsoft.com/office/drawing/2014/main" id="{2A0D2549-88B5-1FDE-5A8F-4F379157F188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053" name="Заметки 4">
            <a:extLst>
              <a:ext uri="{FF2B5EF4-FFF2-40B4-BE49-F238E27FC236}">
                <a16:creationId xmlns:a16="http://schemas.microsoft.com/office/drawing/2014/main" id="{A8EE8950-55E1-A383-27FF-2444CD1F1461}"/>
              </a:ext>
            </a:extLst>
          </p:cNvPr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 noProof="0"/>
              <a:t>Образец текста</a:t>
            </a:r>
          </a:p>
          <a:p>
            <a:pPr lvl="1"/>
            <a:r>
              <a:rPr lang="ru-RU" altLang="zh-CN" noProof="0"/>
              <a:t>Второй уровень</a:t>
            </a:r>
          </a:p>
          <a:p>
            <a:pPr lvl="2"/>
            <a:r>
              <a:rPr lang="ru-RU" altLang="zh-CN" noProof="0"/>
              <a:t>Третий уровень</a:t>
            </a:r>
          </a:p>
          <a:p>
            <a:pPr lvl="3"/>
            <a:r>
              <a:rPr lang="ru-RU" altLang="zh-CN" noProof="0"/>
              <a:t>Четвертый уровень</a:t>
            </a:r>
          </a:p>
          <a:p>
            <a:pPr lvl="4"/>
            <a:r>
              <a:rPr lang="ru-RU" altLang="zh-CN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1060073-2E6A-34A2-A2EF-8897974FF6A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Aptos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98B15A7-9861-5AF3-1585-44B999132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254866DC-8FB9-43BC-8358-DB11DD4A82D2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594983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Образ слайда 1">
            <a:extLst>
              <a:ext uri="{FF2B5EF4-FFF2-40B4-BE49-F238E27FC236}">
                <a16:creationId xmlns:a16="http://schemas.microsoft.com/office/drawing/2014/main" id="{53AAC0CF-7882-61E7-0A82-F3F5EB632907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4099" name="Заметки 2">
            <a:extLst>
              <a:ext uri="{FF2B5EF4-FFF2-40B4-BE49-F238E27FC236}">
                <a16:creationId xmlns:a16="http://schemas.microsoft.com/office/drawing/2014/main" id="{0792E640-6F8F-25C6-43A9-A45C59DFA48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5ED53A4B-D4C9-5910-9D06-407DDBCFAFA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0D141B37-D474-459C-9E0F-8C0D0EC0CEEE}" type="slidenum">
              <a:rPr altLang="zh-CN">
                <a:cs typeface="等线" panose="02010600030101010101" pitchFamily="2" charset="-122"/>
              </a:rPr>
              <a:pPr/>
              <a:t>1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8C6B7-494F-92C7-EBF8-405FD1FE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6CF7F8E8-DE09-7F1B-B7DA-FE6739A98D1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49E6ED1A-5535-82AE-83B7-29C6A35F098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B2CE3F4-037F-5259-469D-A5BD5244D87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D687E02-124D-4478-85CC-DFD89EE2273D}" type="slidenum">
              <a:rPr kumimoji="0" altLang="zh-CN" sz="1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等线" panose="02010600030101010101" pitchFamily="2" charset="-122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zh-CN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869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0C589-89E1-1BCA-1773-CCA67DBE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E4CEE487-8E19-5EB6-1CE4-4BCB391ECED8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C701BB7E-DEA6-33A9-D81F-2AFA6A12925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AC68EB94-2593-EC23-43DF-4A9E400A2C3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D687E02-124D-4478-85CC-DFD89EE2273D}" type="slidenum">
              <a:rPr kumimoji="0" altLang="zh-CN" sz="1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等线" panose="02010600030101010101" pitchFamily="2" charset="-122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04020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4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F8D38-660F-AE0B-DEB2-F740EC0A6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CFAB0E63-242B-094A-DAFA-53B0C0AFDE8E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4FE91EFA-867D-34ED-CAE6-C760344B750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7F19CED6-29B9-502D-B331-88A8C53E4B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5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37393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7E96E-6BF4-18A1-0833-672482B52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D97E59F-ED32-2517-38DE-6AB7B12AE18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9E9BF53A-A737-21F1-E0F6-21402C75943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84737A37-B59C-89A5-C113-77026BA7F5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6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6444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1F542-FF0B-067F-E115-3B8B3A707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941366C1-70FA-9E19-19C2-4F383F75DF93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4F1BEF24-7E36-9E51-D0E4-157E18C8813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7A4AE3E9-A617-C7D0-7467-383539EA5E6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8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89287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709B6-A3CE-0819-4C26-F97FB9E2F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A9D1CC66-FB38-3660-4421-C54036506BDE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F58E4115-F2DE-D7A2-4A1F-C66841E6D4F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CD7F50C4-7B2C-D72C-5CE6-EB5696ECEB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9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99574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39D4-D778-C6DB-4AF2-5A4DE9601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54EEB77B-8040-5284-0754-C7F03DE5B604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  <p:txBody>
          <a:bodyPr/>
          <a:lstStyle/>
          <a:p>
            <a:endParaRPr lang="ru-RU"/>
          </a:p>
        </p:txBody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7AAB12F6-E46C-E5ED-9F3A-9F3A4FB827F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CABB3278-76DD-99BD-5892-16504C6CDA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10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917621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11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90602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noProof="1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C2ABE4-66CA-FBAE-F148-682326182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59C0F2-78E2-46FF-9166-629315525A25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458B08-277F-AB77-9678-1AEDBCA0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5F25A0-106D-7220-AC99-1EF741A23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5F1E390-58D5-46F8-9BB8-613D346979AB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74716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BBCFFA-2B60-0D33-14B9-16347B978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019043-AA2D-4600-AFD8-23050D3BDC42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147434-D651-BC98-F3C1-C815E69F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354D81-F9A3-D949-4508-BDA2CA8AA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721CB51-31ED-4C09-A4A0-FBB363AB4F10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8702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36581E-5804-E9A8-BEE4-D751DBF2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060A03-B9C5-4FFE-B137-2043DA7076BB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EA2D86-B09A-C40A-E227-36A84CD4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FCF3C8-1BAC-C257-2E59-A2E06FCF5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C42B27E-6C67-4B84-9BF5-73A4FC4A53BE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89953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3F1E15D9-539E-A388-65EC-F517CEE3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240625-FC0F-4A55-B6A4-1B11F9D1882C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43124E61-3FD1-96D6-E3F5-B802BB450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D804349-1223-05FC-F119-C8DD8CC22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BB50DF-BE53-45CF-BE31-DF755AFBEC99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91630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FFE1A5AB-2FA2-EB97-D7E5-F7E5D4373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A8771A-C258-4F7C-9C56-577225F58644}" type="datetime1">
              <a:rPr lang="ru-RU" smtClean="0"/>
              <a:t>04.06.2026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3EF1D936-1C13-FDEC-5A4A-E0C7DE19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B8405F6-1624-0D56-9C97-5CD9735EB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57F18C-6156-4E2E-861F-BD2D152600E4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9918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83BA1D94-E263-339E-B6D3-8C777D966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E4C6D7-9D43-4D0D-B6CE-B7FE888DFA5B}" type="datetime1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9998661F-3D46-DDBA-9167-5453D12F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860C6424-5CF4-4407-7AC6-742C530C4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B2DC26D-16D0-4072-A9C2-F73E32D665E3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157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0ED75349-1FF2-B82C-6543-DCEA71F51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3D6178-225B-4E17-A144-18738C8E44D9}" type="datetime1">
              <a:rPr lang="ru-RU" smtClean="0"/>
              <a:t>04.06.2026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37CAB170-DFCE-B949-A6D5-0D7F42B6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87BA5E49-7C53-2330-E74E-5F8A12EDC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3D3A62-9975-49A2-A229-F36F92FB7EA0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88979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F7ED9EA-648B-D99B-6F59-60C1E97B1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287886-C08E-438B-A97D-17C336AB888F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49528BB1-8F5B-8C4C-BE9A-08DD90CA0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72556A4-9548-26BD-FFCE-46025DD68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2CC1B95-8037-48E2-8040-416C98D7C4AD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6177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ru-RU" noProof="1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F81C3129-2E8E-B3AC-7A10-7A051C1E8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185191-32C7-4D90-A7A3-18B272EEA2FE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8B74E426-A57A-3682-E571-E8653EE97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D3E7706F-D243-AFC6-D7C5-B162EF352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1F2522C-181D-4A71-8DB8-8853F49E3C2E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3584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2C1418-F14F-FDBD-0570-E630814B2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5275B1-7458-49F2-B69B-F5D94466ED9F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32D6A0-FE00-448F-58D5-B51A9F9D8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E1D47D-F72A-AA5D-8001-C1589EB3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90553FB-7ADB-41A9-B7EB-C872ABECCDF1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784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9BA74B-016D-D9B8-2B0C-2B04C83D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DBFEF6-68F3-4A89-9AD1-5470280F4BC4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8BAF24-B361-0A1F-06CC-FA2E0B5C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A6F744-F544-E81F-F2B3-9AF85B83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E47BF8C-8CDF-489C-9A49-5B985D2732EA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90725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8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74071D2B-B61E-184E-7103-129237AF813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72020E1D-F62F-A1CE-AB98-A89265EF7BB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текста</a:t>
            </a:r>
          </a:p>
          <a:p>
            <a:pPr lvl="1"/>
            <a:r>
              <a:rPr lang="ru-RU" altLang="zh-CN"/>
              <a:t>Второй уровень</a:t>
            </a:r>
          </a:p>
          <a:p>
            <a:pPr lvl="2"/>
            <a:r>
              <a:rPr lang="ru-RU" altLang="zh-CN"/>
              <a:t>Третий уровень</a:t>
            </a:r>
          </a:p>
          <a:p>
            <a:pPr lvl="3"/>
            <a:r>
              <a:rPr lang="ru-RU" altLang="zh-CN"/>
              <a:t>Четвертый уровень</a:t>
            </a:r>
          </a:p>
          <a:p>
            <a:pPr lvl="4"/>
            <a:r>
              <a:rPr lang="ru-RU" altLang="zh-CN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C2C9DE-9BB2-61D7-BAB2-FCDB061589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defRPr sz="1200" noProof="1">
                <a:solidFill>
                  <a:schemeClr val="tx1">
                    <a:tint val="82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A1AC42D-45EC-4968-A3B2-7E904D52A6B0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977651-4749-99BC-B2D3-C1DCB553A6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defRPr sz="1200" noProof="1">
                <a:solidFill>
                  <a:schemeClr val="tx1">
                    <a:tint val="82000"/>
                  </a:schemeClr>
                </a:solidFill>
                <a:latin typeface="Aptos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9F982E-F481-979B-A42F-EA02538FC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>
                <a:solidFill>
                  <a:srgbClr val="767676"/>
                </a:solidFill>
              </a:defRPr>
            </a:lvl1pPr>
          </a:lstStyle>
          <a:p>
            <a:fld id="{EE380E60-B8F9-48F5-9BBB-CB01B607B2F8}" type="slidenum">
              <a:rPr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13" Type="http://schemas.openxmlformats.org/officeDocument/2006/relationships/slide" Target="slide11.xml"/><Relationship Id="rId3" Type="http://schemas.openxmlformats.org/officeDocument/2006/relationships/image" Target="../media/image5.png"/><Relationship Id="rId7" Type="http://schemas.openxmlformats.org/officeDocument/2006/relationships/slide" Target="slide3.xml"/><Relationship Id="rId12" Type="http://schemas.openxmlformats.org/officeDocument/2006/relationships/slide" Target="slide1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slide" Target="slide8.xml"/><Relationship Id="rId5" Type="http://schemas.openxmlformats.org/officeDocument/2006/relationships/image" Target="../media/image3.png"/><Relationship Id="rId10" Type="http://schemas.openxmlformats.org/officeDocument/2006/relationships/slide" Target="slide6.xml"/><Relationship Id="rId4" Type="http://schemas.openxmlformats.org/officeDocument/2006/relationships/image" Target="../media/image6.png"/><Relationship Id="rId9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TextBox 32">
            <a:extLst>
              <a:ext uri="{FF2B5EF4-FFF2-40B4-BE49-F238E27FC236}">
                <a16:creationId xmlns:a16="http://schemas.microsoft.com/office/drawing/2014/main" id="{3FE59A19-9F1C-000F-1058-19E9E50ADD1D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466725" y="4183063"/>
            <a:ext cx="433546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AutoNum type="arabicPeriod"/>
            </a:pPr>
            <a:r>
              <a:rPr lang="ru-RU" altLang="zh-CN" sz="1800" dirty="0">
                <a:latin typeface="Akrobat" pitchFamily="2" charset="-52"/>
                <a:cs typeface="等线" panose="02010600030101010101" pitchFamily="2" charset="-122"/>
              </a:rPr>
              <a:t>Ремигайло Егор– 3 курс, ИТТСУ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AutoNum type="arabicPeriod"/>
            </a:pPr>
            <a:r>
              <a:rPr lang="ru-RU" altLang="zh-CN" sz="1800" dirty="0">
                <a:latin typeface="Akrobat" pitchFamily="2" charset="-52"/>
                <a:cs typeface="等线" panose="02010600030101010101" pitchFamily="2" charset="-122"/>
              </a:rPr>
              <a:t>Левин Всеволод– 3 курс, ИТТСУ</a:t>
            </a:r>
          </a:p>
        </p:txBody>
      </p:sp>
      <p:sp>
        <p:nvSpPr>
          <p:cNvPr id="86" name="Скругленный прямоугольник 85">
            <a:extLst>
              <a:ext uri="{FF2B5EF4-FFF2-40B4-BE49-F238E27FC236}">
                <a16:creationId xmlns:a16="http://schemas.microsoft.com/office/drawing/2014/main" id="{FED8E283-9887-9B58-72A0-21D604CD1A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6738" y="1574800"/>
            <a:ext cx="5226050" cy="1763713"/>
          </a:xfrm>
          <a:prstGeom prst="roundRect">
            <a:avLst>
              <a:gd name="adj" fmla="val 6900"/>
            </a:avLst>
          </a:prstGeom>
          <a:noFill/>
          <a:ln w="38100">
            <a:solidFill>
              <a:schemeClr val="bg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sp>
        <p:nvSpPr>
          <p:cNvPr id="3079" name="TextBox 11">
            <a:extLst>
              <a:ext uri="{FF2B5EF4-FFF2-40B4-BE49-F238E27FC236}">
                <a16:creationId xmlns:a16="http://schemas.microsoft.com/office/drawing/2014/main" id="{646DB2D0-077C-2581-20C0-46599ED8F0FE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444500" y="3721100"/>
            <a:ext cx="32956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2400" b="1" dirty="0">
                <a:latin typeface="Akrobat Black" pitchFamily="2" charset="-52"/>
                <a:cs typeface="等线" panose="02010600030101010101" pitchFamily="2" charset="-122"/>
              </a:rPr>
              <a:t>КОМАНДА</a:t>
            </a:r>
            <a:r>
              <a:rPr lang="en-US" altLang="ru-RU" sz="2400" b="1" dirty="0">
                <a:latin typeface="Akrobat Black" pitchFamily="2" charset="-52"/>
              </a:rPr>
              <a:t>:</a:t>
            </a:r>
            <a:endParaRPr lang="ru-RU" altLang="zh-CN" sz="2400" b="1" dirty="0">
              <a:latin typeface="Akrobat Black" pitchFamily="2" charset="-52"/>
              <a:cs typeface="等线" panose="02010600030101010101" pitchFamily="2" charset="-122"/>
            </a:endParaRPr>
          </a:p>
        </p:txBody>
      </p:sp>
      <p:sp>
        <p:nvSpPr>
          <p:cNvPr id="39" name="Овал 38">
            <a:extLst>
              <a:ext uri="{FF2B5EF4-FFF2-40B4-BE49-F238E27FC236}">
                <a16:creationId xmlns:a16="http://schemas.microsoft.com/office/drawing/2014/main" id="{8B509149-C64E-D086-21CC-A49DD6B103B6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1610000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3086" name="Рисунок 33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20C66973-C85B-8AD6-C87B-9128DC86552E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Овал 19">
            <a:extLst>
              <a:ext uri="{FF2B5EF4-FFF2-40B4-BE49-F238E27FC236}">
                <a16:creationId xmlns:a16="http://schemas.microsoft.com/office/drawing/2014/main" id="{43857354-F8A8-2E53-4DB3-C5F9862B009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1610000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3088" name="Рисунок 27">
            <a:extLst>
              <a:ext uri="{FF2B5EF4-FFF2-40B4-BE49-F238E27FC236}">
                <a16:creationId xmlns:a16="http://schemas.microsoft.com/office/drawing/2014/main" id="{655ACD81-C1FB-0A61-CD0F-7BC66E60001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Овал 22">
            <a:extLst>
              <a:ext uri="{FF2B5EF4-FFF2-40B4-BE49-F238E27FC236}">
                <a16:creationId xmlns:a16="http://schemas.microsoft.com/office/drawing/2014/main" id="{08E3B59A-D6FD-7B6C-FAA5-09773995145F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1610000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3090" name="Рисунок 24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21D669E5-A011-257D-D60C-6023482BBD3A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E71FC67-D15C-4B72-B6BB-AF59EDE1E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B965E-A9FC-E840-B336-9B52E1BF743D}"/>
              </a:ext>
            </a:extLst>
          </p:cNvPr>
          <p:cNvSpPr txBox="1"/>
          <p:nvPr/>
        </p:nvSpPr>
        <p:spPr>
          <a:xfrm>
            <a:off x="446690" y="4884599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zh-CN" b="1" dirty="0">
                <a:latin typeface="Akrobat Black" pitchFamily="2" charset="-52"/>
                <a:cs typeface="等线" panose="02010600030101010101" pitchFamily="2" charset="-122"/>
              </a:rPr>
              <a:t>НАСТАВНИКИ</a:t>
            </a:r>
            <a:r>
              <a:rPr lang="en-US" altLang="ru-RU" b="1" dirty="0">
                <a:latin typeface="Akrobat Black" pitchFamily="2" charset="-52"/>
              </a:rPr>
              <a:t>:</a:t>
            </a:r>
            <a:endParaRPr lang="ru-RU" altLang="zh-CN" b="1" dirty="0">
              <a:latin typeface="Akrobat Black" pitchFamily="2" charset="-52"/>
              <a:cs typeface="等线" panose="0201060003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E2C2-E52B-1E40-6855-646B39671DBF}"/>
              </a:ext>
            </a:extLst>
          </p:cNvPr>
          <p:cNvSpPr txBox="1"/>
          <p:nvPr/>
        </p:nvSpPr>
        <p:spPr>
          <a:xfrm>
            <a:off x="466725" y="5178890"/>
            <a:ext cx="5656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hangingPunct="1"/>
            <a:r>
              <a:rPr lang="ru-RU" altLang="zh-CN" sz="1600" dirty="0">
                <a:latin typeface="Akrobat" pitchFamily="2" charset="-52"/>
              </a:rPr>
              <a:t>Сидоренко Валентина Геннадьевна – проф., доктор технических наук</a:t>
            </a:r>
            <a:endParaRPr lang="en-US" altLang="zh-CN" sz="1600" dirty="0">
              <a:latin typeface="Akrobat" pitchFamily="2" charset="-52"/>
            </a:endParaRPr>
          </a:p>
          <a:p>
            <a:pPr eaLnBrk="1" hangingPunct="1"/>
            <a:r>
              <a:rPr lang="en-US" altLang="zh-CN" sz="1600" dirty="0">
                <a:latin typeface="Akrobat" pitchFamily="2" charset="-52"/>
              </a:rPr>
              <a:t>C</a:t>
            </a:r>
            <a:r>
              <a:rPr lang="ru-RU" altLang="zh-CN" sz="1600" dirty="0" err="1">
                <a:latin typeface="Akrobat" pitchFamily="2" charset="-52"/>
              </a:rPr>
              <a:t>афронов</a:t>
            </a:r>
            <a:r>
              <a:rPr lang="ru-RU" altLang="zh-CN" sz="1600" dirty="0">
                <a:latin typeface="Akrobat" pitchFamily="2" charset="-52"/>
              </a:rPr>
              <a:t> Антон Игоревич – доцент, кандидат технических наук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F0E75A-1E8A-BE03-08AE-89CA6247B855}"/>
              </a:ext>
            </a:extLst>
          </p:cNvPr>
          <p:cNvSpPr txBox="1"/>
          <p:nvPr/>
        </p:nvSpPr>
        <p:spPr>
          <a:xfrm>
            <a:off x="466725" y="5779075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en-US" b="1" dirty="0">
                <a:latin typeface="Akrobat Black" pitchFamily="2" charset="-52"/>
              </a:rPr>
              <a:t>КАФЕДРА</a:t>
            </a:r>
            <a:r>
              <a:rPr lang="en-US" altLang="en-US" b="1" dirty="0">
                <a:latin typeface="Akrobat Black" pitchFamily="2" charset="-52"/>
              </a:rPr>
              <a:t>:</a:t>
            </a:r>
            <a:endParaRPr lang="ru-RU" altLang="zh-CN" b="1" dirty="0">
              <a:latin typeface="Akrobat Black" pitchFamily="2" charset="-52"/>
              <a:cs typeface="等线" panose="02010600030101010101" pitchFamily="2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6B9CAA-333F-9FCC-F40B-A956D0ACF885}"/>
              </a:ext>
            </a:extLst>
          </p:cNvPr>
          <p:cNvSpPr txBox="1"/>
          <p:nvPr/>
        </p:nvSpPr>
        <p:spPr>
          <a:xfrm>
            <a:off x="466725" y="6086852"/>
            <a:ext cx="36952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1" hangingPunct="1"/>
            <a:r>
              <a:rPr lang="en-US" altLang="zh-CN" sz="2000" dirty="0">
                <a:latin typeface="Akrobat" pitchFamily="2" charset="-52"/>
              </a:rPr>
              <a:t>"</a:t>
            </a:r>
            <a:r>
              <a:rPr lang="ru-RU" altLang="zh-CN" sz="2000" dirty="0">
                <a:latin typeface="Akrobat" pitchFamily="2" charset="-52"/>
              </a:rPr>
              <a:t>Управление и защита информации</a:t>
            </a:r>
            <a:r>
              <a:rPr lang="en-US" altLang="zh-CN" sz="2000" dirty="0">
                <a:latin typeface="Akrobat" pitchFamily="2" charset="-52"/>
              </a:rPr>
              <a:t>”</a:t>
            </a:r>
            <a:r>
              <a:rPr lang="ru-RU" altLang="zh-CN" sz="2000" dirty="0">
                <a:latin typeface="Akrobat" pitchFamily="2" charset="-52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8028CF-B3EB-1809-51A9-C7FF62BBF5D3}"/>
              </a:ext>
            </a:extLst>
          </p:cNvPr>
          <p:cNvSpPr txBox="1"/>
          <p:nvPr/>
        </p:nvSpPr>
        <p:spPr>
          <a:xfrm>
            <a:off x="660468" y="1386722"/>
            <a:ext cx="5038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Отчет по лабораторной работе №</a:t>
            </a:r>
            <a:r>
              <a:rPr lang="en-US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endParaRPr lang="ru-RU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FE18EE-9F0D-D35A-1A74-8A9CCCF58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723B00D0-B7C8-9967-E8BE-A5D3476713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F0A90A14-B378-EE29-C717-B8D7B2D43913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1918DE5A-CE5D-5E82-CEFB-A56C2895E17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E133910A-2C99-F7FB-2B51-A14830F12A9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D0B3D9B5-41BB-EDC5-B600-28A96EC409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A70FC40E-6489-90BF-66A9-AF0072D269F9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931E3F8-9886-9AFE-D084-B33D88BA2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5F1E390-58D5-46F8-9BB8-613D346979AB}" type="slidenum">
              <a:rPr kumimoji="0" lang="ru-RU" altLang="en-US" sz="1200" b="0" i="0" u="none" strike="noStrike" kern="1200" cap="none" spc="0" normalizeH="0" baseline="0" noProof="1" smtClean="0">
                <a:ln>
                  <a:noFill/>
                </a:ln>
                <a:solidFill>
                  <a:srgbClr val="767676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altLang="en-US" sz="1200" b="0" i="0" u="none" strike="noStrike" kern="1200" cap="none" spc="0" normalizeH="0" baseline="0" noProof="1">
              <a:ln>
                <a:noFill/>
              </a:ln>
              <a:solidFill>
                <a:srgbClr val="767676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D43AE4-9548-BB5C-4ED6-9FF8351FDEFD}"/>
              </a:ext>
            </a:extLst>
          </p:cNvPr>
          <p:cNvSpPr txBox="1"/>
          <p:nvPr/>
        </p:nvSpPr>
        <p:spPr>
          <a:xfrm>
            <a:off x="828675" y="501650"/>
            <a:ext cx="6515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Оглавление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31CFCB-76BA-E27F-5DFA-4A4CF0DC44A6}"/>
              </a:ext>
            </a:extLst>
          </p:cNvPr>
          <p:cNvSpPr txBox="1"/>
          <p:nvPr/>
        </p:nvSpPr>
        <p:spPr>
          <a:xfrm>
            <a:off x="828675" y="1404594"/>
            <a:ext cx="760150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7" action="ppaction://hlinksldjump"/>
              </a:rPr>
              <a:t>Исходный код на </a:t>
            </a:r>
            <a:r>
              <a:rPr lang="en-US" dirty="0">
                <a:hlinkClick r:id="rId7" action="ppaction://hlinksldjump"/>
              </a:rPr>
              <a:t>C</a:t>
            </a:r>
            <a:r>
              <a:rPr lang="en-US" dirty="0"/>
              <a:t>………………………………………………………………………………. 3</a:t>
            </a:r>
            <a:endParaRPr lang="ru-RU" dirty="0"/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8" action="ppaction://hlinksldjump"/>
              </a:rPr>
              <a:t>Конвертация в </a:t>
            </a:r>
            <a:r>
              <a:rPr lang="en-US" dirty="0">
                <a:hlinkClick r:id="rId8" action="ppaction://hlinksldjump"/>
              </a:rPr>
              <a:t>Python</a:t>
            </a:r>
            <a:r>
              <a:rPr lang="en-US" dirty="0"/>
              <a:t>…………………………………………………………………………... 4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9" action="ppaction://hlinksldjump"/>
              </a:rPr>
              <a:t>Создание и проверка </a:t>
            </a:r>
            <a:r>
              <a:rPr lang="en-US" dirty="0">
                <a:hlinkClick r:id="rId9" action="ppaction://hlinksldjump"/>
              </a:rPr>
              <a:t>exe</a:t>
            </a:r>
            <a:r>
              <a:rPr lang="ru-RU" dirty="0">
                <a:hlinkClick r:id="rId9" action="ppaction://hlinksldjump"/>
              </a:rPr>
              <a:t> – файла</a:t>
            </a:r>
            <a:r>
              <a:rPr lang="en-US" dirty="0"/>
              <a:t>…………………………………………………………. 5</a:t>
            </a:r>
            <a:endParaRPr lang="ru-RU" dirty="0"/>
          </a:p>
          <a:p>
            <a:pPr marL="342900" indent="-342900">
              <a:buFont typeface="+mj-lt"/>
              <a:buAutoNum type="arabicPeriod"/>
            </a:pPr>
            <a:r>
              <a:rPr lang="ru-RU" u="sng" dirty="0"/>
              <a:t>Файл </a:t>
            </a:r>
            <a:r>
              <a:rPr lang="en-US" u="sng" dirty="0"/>
              <a:t>ex4.pyc </a:t>
            </a:r>
            <a:r>
              <a:rPr lang="ru-RU" u="sng" dirty="0"/>
              <a:t> и </a:t>
            </a:r>
            <a:r>
              <a:rPr lang="en-US" u="sng" dirty="0" err="1"/>
              <a:t>abc.pyc</a:t>
            </a:r>
            <a:r>
              <a:rPr lang="en-US" u="sng" dirty="0"/>
              <a:t> </a:t>
            </a:r>
            <a:r>
              <a:rPr lang="ru-RU" u="sng" dirty="0"/>
              <a:t>и их расположение</a:t>
            </a:r>
            <a:r>
              <a:rPr lang="en-US" dirty="0"/>
              <a:t>……………</a:t>
            </a:r>
            <a:r>
              <a:rPr lang="ru-RU" dirty="0"/>
              <a:t>..</a:t>
            </a:r>
            <a:r>
              <a:rPr lang="en-US" dirty="0"/>
              <a:t>………………………….. </a:t>
            </a:r>
            <a:r>
              <a:rPr lang="ru-RU" dirty="0"/>
              <a:t>6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10" action="ppaction://hlinksldjump"/>
              </a:rPr>
              <a:t>Извлечение данных из </a:t>
            </a:r>
            <a:r>
              <a:rPr lang="en-US" dirty="0">
                <a:hlinkClick r:id="rId10" action="ppaction://hlinksldjump"/>
              </a:rPr>
              <a:t>exe – </a:t>
            </a:r>
            <a:r>
              <a:rPr lang="ru-RU" dirty="0">
                <a:hlinkClick r:id="rId10" action="ppaction://hlinksldjump"/>
              </a:rPr>
              <a:t>файла</a:t>
            </a:r>
            <a:r>
              <a:rPr lang="en-US" dirty="0"/>
              <a:t>……………………………………………………….. </a:t>
            </a:r>
            <a:r>
              <a:rPr lang="ru-RU" dirty="0"/>
              <a:t>7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11" action="ppaction://hlinksldjump"/>
              </a:rPr>
              <a:t>Работа с  </a:t>
            </a:r>
            <a:r>
              <a:rPr lang="en-US" dirty="0">
                <a:hlinkClick r:id="rId11" action="ppaction://hlinksldjump"/>
              </a:rPr>
              <a:t>.</a:t>
            </a:r>
            <a:r>
              <a:rPr lang="en-US" dirty="0" err="1">
                <a:hlinkClick r:id="rId11" action="ppaction://hlinksldjump"/>
              </a:rPr>
              <a:t>pyc</a:t>
            </a:r>
            <a:r>
              <a:rPr lang="ru-RU" dirty="0">
                <a:hlinkClick r:id="rId11" action="ppaction://hlinksldjump"/>
              </a:rPr>
              <a:t> – файлами</a:t>
            </a:r>
            <a:r>
              <a:rPr lang="en-US" dirty="0"/>
              <a:t>……………………………………………………………………… </a:t>
            </a:r>
            <a:r>
              <a:rPr lang="ru-RU" dirty="0"/>
              <a:t>8</a:t>
            </a:r>
            <a:r>
              <a:rPr lang="en-US" dirty="0"/>
              <a:t>-</a:t>
            </a:r>
            <a:r>
              <a:rPr lang="ru-RU" dirty="0"/>
              <a:t>9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12" action="ppaction://hlinksldjump"/>
              </a:rPr>
              <a:t>Декомпиляция</a:t>
            </a:r>
            <a:r>
              <a:rPr lang="en-US" dirty="0"/>
              <a:t>……………………………………………………………</a:t>
            </a:r>
            <a:r>
              <a:rPr lang="ru-RU" dirty="0"/>
              <a:t>..</a:t>
            </a:r>
            <a:r>
              <a:rPr lang="en-US" dirty="0"/>
              <a:t>……………………….. </a:t>
            </a:r>
            <a:r>
              <a:rPr lang="ru-RU" dirty="0"/>
              <a:t>10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hlinkClick r:id="rId13" action="ppaction://hlinksldjump"/>
              </a:rPr>
              <a:t>Вывод</a:t>
            </a:r>
            <a:r>
              <a:rPr lang="en-US" dirty="0"/>
              <a:t>……………………………………………………………………………</a:t>
            </a:r>
            <a:r>
              <a:rPr lang="ru-RU" dirty="0"/>
              <a:t>….</a:t>
            </a:r>
            <a:r>
              <a:rPr lang="en-US" dirty="0"/>
              <a:t>…………………… 1</a:t>
            </a:r>
            <a:r>
              <a:rPr lang="ru-RU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49504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554E02-FAA0-DEA1-BCE8-C2CE330E0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246AA54B-F01D-1C05-7673-0EA7BCB7CB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242C113F-2435-1CED-FDBF-109BFDE5527D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32C406D5-CD2A-AD20-2F88-59BEB75B82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D83FD40B-29E9-D3E9-5DDD-C4F6737AE13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DB23A900-FD84-B364-9A8E-CB41105F02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8C279FA9-EBD7-5287-0CEA-AE089CD31E83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B4612DD-1637-B803-5F3F-19FB34DB3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5F1E390-58D5-46F8-9BB8-613D346979AB}" type="slidenum">
              <a:rPr kumimoji="0" lang="ru-RU" altLang="en-US" sz="1200" b="0" i="0" u="none" strike="noStrike" kern="1200" cap="none" spc="0" normalizeH="0" baseline="0" noProof="1" smtClean="0">
                <a:ln>
                  <a:noFill/>
                </a:ln>
                <a:solidFill>
                  <a:srgbClr val="767676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altLang="en-US" sz="1200" b="0" i="0" u="none" strike="noStrike" kern="1200" cap="none" spc="0" normalizeH="0" baseline="0" noProof="1">
              <a:ln>
                <a:noFill/>
              </a:ln>
              <a:solidFill>
                <a:srgbClr val="767676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99CB1D-0002-FBBE-E541-2E4DA6B28E84}"/>
              </a:ext>
            </a:extLst>
          </p:cNvPr>
          <p:cNvSpPr txBox="1"/>
          <p:nvPr/>
        </p:nvSpPr>
        <p:spPr>
          <a:xfrm>
            <a:off x="846537" y="642254"/>
            <a:ext cx="6515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Скриншот исходного кода на языке С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494B563-C35C-48B5-9B66-76C860E55E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8311" y="1163586"/>
            <a:ext cx="4904317" cy="50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98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A5631AA-A306-4883-A03F-D11F680D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4</a:t>
            </a:fld>
            <a:endParaRPr lang="ru-RU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260788-9AAC-9F39-5A9F-BC3533D2762A}"/>
              </a:ext>
            </a:extLst>
          </p:cNvPr>
          <p:cNvSpPr txBox="1"/>
          <p:nvPr/>
        </p:nvSpPr>
        <p:spPr>
          <a:xfrm>
            <a:off x="828675" y="501650"/>
            <a:ext cx="6515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Скриншот исходного кода, конвертированного с помощью </a:t>
            </a:r>
            <a:r>
              <a:rPr lang="en-US" sz="2000" b="1" dirty="0" err="1"/>
              <a:t>CodeConvertor</a:t>
            </a:r>
            <a:r>
              <a:rPr lang="en-US" sz="2000" b="1" dirty="0"/>
              <a:t> </a:t>
            </a:r>
            <a:r>
              <a:rPr lang="ru-RU" sz="2000" b="1" dirty="0"/>
              <a:t>на </a:t>
            </a:r>
            <a:r>
              <a:rPr lang="en-US" sz="2000" b="1" dirty="0"/>
              <a:t>Python</a:t>
            </a:r>
            <a:endParaRPr lang="ru-RU" sz="2000" b="1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4D37F2-0478-4C89-9226-925B684C6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0284" y="1209535"/>
            <a:ext cx="6311971" cy="53780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27F068-D862-4D4B-30AD-6F0893F9C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05C646A1-B9BD-5792-8420-A11C79B41F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517054FC-DEC6-40C9-EAC7-2637D0A13EC7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C5069D4C-21CD-70DC-9B4A-41D8FF377A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CB20EC0D-E25F-68D5-BD77-34F765F5735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448CDB10-4AF5-CA4F-6DE1-5D83423D68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E8ECE2F0-8F8D-3FF7-D955-7854908FFB05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78BCCDA-1400-2F1E-9C1E-F6E022077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5</a:t>
            </a:fld>
            <a:endParaRPr lang="ru-RU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90886-69C6-6A67-5BD7-914D8B51149E}"/>
              </a:ext>
            </a:extLst>
          </p:cNvPr>
          <p:cNvSpPr txBox="1"/>
          <p:nvPr/>
        </p:nvSpPr>
        <p:spPr>
          <a:xfrm>
            <a:off x="820049" y="613793"/>
            <a:ext cx="6515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Скриншот результата работы файла на </a:t>
            </a:r>
            <a:r>
              <a:rPr lang="en-US" sz="2000" b="1" dirty="0"/>
              <a:t>Python</a:t>
            </a:r>
            <a:endParaRPr lang="ru-RU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9F9E89-3A13-44B2-8060-3D56BD03C03A}"/>
              </a:ext>
            </a:extLst>
          </p:cNvPr>
          <p:cNvSpPr txBox="1"/>
          <p:nvPr/>
        </p:nvSpPr>
        <p:spPr>
          <a:xfrm>
            <a:off x="901273" y="4651900"/>
            <a:ext cx="103894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данном скриншоте показан результат выполнения программы, созданной с помощью </a:t>
            </a:r>
            <a:r>
              <a:rPr lang="ru-RU" dirty="0" err="1"/>
              <a:t>PyInstaller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Программа корректно обрабатывает пользовательский ввод и выводит результат вычислений.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C3F2BF9-B044-4293-9A50-7B0486CF28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4345" y="1282770"/>
            <a:ext cx="4763165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934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987BE1-597F-F95E-2210-819F2E027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342C7BF3-B6CA-E25E-5C06-6A68B90F7D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AF92316-4D4A-BB4E-DB4A-07CD87B8E040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98213864-6748-972E-86E6-69F5DA8BA9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38638794-474C-6CDE-BF26-F603505F779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42B7115B-A2F4-B388-409E-629F3C107F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426DF0A6-AA7E-22CE-2E97-8CD81464BBF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8A75852-9F23-FF29-2CF4-2E626C5DA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6</a:t>
            </a:fld>
            <a:endParaRPr lang="ru-RU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B0882E-873B-C995-E5B6-241DD28AA100}"/>
              </a:ext>
            </a:extLst>
          </p:cNvPr>
          <p:cNvSpPr txBox="1"/>
          <p:nvPr/>
        </p:nvSpPr>
        <p:spPr>
          <a:xfrm>
            <a:off x="828675" y="501650"/>
            <a:ext cx="6515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Результат запуска </a:t>
            </a:r>
            <a:r>
              <a:rPr lang="ru-RU" sz="2000" b="1" dirty="0" err="1"/>
              <a:t>PyInstaller</a:t>
            </a:r>
            <a:r>
              <a:rPr lang="ru-RU" sz="2000" b="1" dirty="0"/>
              <a:t> </a:t>
            </a:r>
            <a:r>
              <a:rPr lang="ru-RU" sz="2000" b="1" dirty="0" err="1"/>
              <a:t>Extractor</a:t>
            </a:r>
            <a:r>
              <a:rPr lang="ru-RU" sz="2000" b="1" dirty="0"/>
              <a:t> в командной строке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501351-66CC-6C32-CD37-8AC5B3E0DC73}"/>
              </a:ext>
            </a:extLst>
          </p:cNvPr>
          <p:cNvSpPr txBox="1"/>
          <p:nvPr/>
        </p:nvSpPr>
        <p:spPr>
          <a:xfrm>
            <a:off x="755213" y="4428841"/>
            <a:ext cx="106815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Представлен процесс извлечения содержимого </a:t>
            </a:r>
            <a:r>
              <a:rPr lang="ru-RU" dirty="0" err="1"/>
              <a:t>exe</a:t>
            </a:r>
            <a:r>
              <a:rPr lang="ru-RU" dirty="0"/>
              <a:t>-файла с использованием утилиты </a:t>
            </a:r>
            <a:r>
              <a:rPr lang="ru-RU" dirty="0" err="1"/>
              <a:t>PyInstaller</a:t>
            </a:r>
            <a:r>
              <a:rPr lang="ru-RU" dirty="0"/>
              <a:t> </a:t>
            </a:r>
            <a:r>
              <a:rPr lang="ru-RU" dirty="0" err="1"/>
              <a:t>Extractor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результате выполнения создаётся директория, содержащая файлы </a:t>
            </a:r>
            <a:r>
              <a:rPr lang="ru-RU" dirty="0" err="1"/>
              <a:t>байткода</a:t>
            </a:r>
            <a:r>
              <a:rPr lang="ru-RU" dirty="0"/>
              <a:t> Python (.</a:t>
            </a:r>
            <a:r>
              <a:rPr lang="ru-RU" dirty="0" err="1"/>
              <a:t>pyc</a:t>
            </a:r>
            <a:r>
              <a:rPr lang="ru-RU" dirty="0"/>
              <a:t>), необходимые для дальнейшего анализа.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3289E6-195C-67B5-C2DA-6F5BF6D5E9D9}"/>
              </a:ext>
            </a:extLst>
          </p:cNvPr>
          <p:cNvSpPr/>
          <p:nvPr/>
        </p:nvSpPr>
        <p:spPr>
          <a:xfrm>
            <a:off x="1556366" y="2121031"/>
            <a:ext cx="2827098" cy="377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0F2DA85-A08B-464A-BA32-085778EA79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019" y="1615479"/>
            <a:ext cx="9202434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44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7A8B5-D379-4DD7-9325-A49C8AD72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612" y="320675"/>
            <a:ext cx="10515600" cy="1325563"/>
          </a:xfrm>
        </p:spPr>
        <p:txBody>
          <a:bodyPr/>
          <a:lstStyle/>
          <a:p>
            <a:r>
              <a:rPr lang="ru-RU" dirty="0"/>
              <a:t>Файл </a:t>
            </a:r>
            <a:r>
              <a:rPr lang="en-US" dirty="0"/>
              <a:t>ex4.pyc </a:t>
            </a:r>
            <a:r>
              <a:rPr lang="ru-RU" dirty="0"/>
              <a:t> и </a:t>
            </a:r>
            <a:r>
              <a:rPr lang="en-US" dirty="0" err="1"/>
              <a:t>abc.pyc</a:t>
            </a:r>
            <a:r>
              <a:rPr lang="en-US" dirty="0"/>
              <a:t> </a:t>
            </a:r>
            <a:r>
              <a:rPr lang="ru-RU" dirty="0"/>
              <a:t>и их расположение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510FFC-5C76-40D2-984F-82331388C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B81DD1A-BCC7-4627-AEB8-D3FFA7B97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4762"/>
            <a:ext cx="2743200" cy="365125"/>
          </a:xfrm>
        </p:spPr>
        <p:txBody>
          <a:bodyPr/>
          <a:lstStyle/>
          <a:p>
            <a:fld id="{C721CB51-31ED-4C09-A4A0-FBB363AB4F10}" type="slidenum">
              <a:rPr lang="ru-RU" altLang="en-US" smtClean="0"/>
              <a:pPr/>
              <a:t>7</a:t>
            </a:fld>
            <a:endParaRPr lang="ru-RU" alt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1FEEA14-5AC0-4C33-B20F-24C254474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28" y="1859924"/>
            <a:ext cx="5646247" cy="374301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6150640-A36C-4825-9FD1-7B69B597B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275" y="1859924"/>
            <a:ext cx="6274417" cy="38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10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09C68-6481-D151-1CC6-88F7E32FD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5E8DE8F4-AF95-B792-6495-0DE0DA8789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BAD641C0-1C70-9004-F057-4282059F02FF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5412BC7D-6E17-4472-2521-060F1C5378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767B13B6-39B1-ADBB-0758-29759FA9B8D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7D44DCBE-8892-4BC9-EB8F-8E9E9F56F50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037699B3-F8A6-0520-8B16-B98B7C0C92BE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222005C-D337-75EF-F754-655A937F8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F5F1E390-58D5-46F8-9BB8-613D346979AB}" type="slidenum">
              <a:rPr lang="ru-RU" altLang="en-US" smtClean="0"/>
              <a:pPr/>
              <a:t>8</a:t>
            </a:fld>
            <a:endParaRPr lang="ru-RU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6B698D-97CD-A53A-09C0-DAF15F8DB68B}"/>
              </a:ext>
            </a:extLst>
          </p:cNvPr>
          <p:cNvSpPr txBox="1"/>
          <p:nvPr/>
        </p:nvSpPr>
        <p:spPr>
          <a:xfrm>
            <a:off x="828675" y="501650"/>
            <a:ext cx="6515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Файл </a:t>
            </a:r>
            <a:r>
              <a:rPr lang="en-US" sz="2000" b="1" dirty="0"/>
              <a:t>ex4.pyc </a:t>
            </a:r>
            <a:r>
              <a:rPr lang="ru-RU" sz="2000" b="1" dirty="0"/>
              <a:t>открытый в </a:t>
            </a:r>
            <a:r>
              <a:rPr lang="en-US" sz="2000" b="1" dirty="0"/>
              <a:t>Hex-</a:t>
            </a:r>
            <a:r>
              <a:rPr lang="ru-RU" sz="2000" b="1" dirty="0"/>
              <a:t>редакторе </a:t>
            </a:r>
            <a:r>
              <a:rPr lang="en-US" sz="2000" b="1" dirty="0"/>
              <a:t>010 Editor</a:t>
            </a:r>
            <a:endParaRPr lang="ru-RU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EBC5FB-292A-2203-B7DC-F81FFAE65A6C}"/>
              </a:ext>
            </a:extLst>
          </p:cNvPr>
          <p:cNvSpPr txBox="1"/>
          <p:nvPr/>
        </p:nvSpPr>
        <p:spPr>
          <a:xfrm>
            <a:off x="6553662" y="2690336"/>
            <a:ext cx="51204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скриншоте показан файл </a:t>
            </a:r>
            <a:r>
              <a:rPr lang="en-US" dirty="0"/>
              <a:t>ex4</a:t>
            </a:r>
            <a:r>
              <a:rPr lang="ru-RU" dirty="0"/>
              <a:t>.</a:t>
            </a:r>
            <a:r>
              <a:rPr lang="ru-RU" dirty="0" err="1"/>
              <a:t>pyc</a:t>
            </a:r>
            <a:r>
              <a:rPr lang="ru-RU" dirty="0"/>
              <a:t>, открытый в </a:t>
            </a:r>
            <a:r>
              <a:rPr lang="ru-RU" dirty="0" err="1"/>
              <a:t>hex</a:t>
            </a:r>
            <a:r>
              <a:rPr lang="ru-RU" dirty="0"/>
              <a:t>-редакторе.</a:t>
            </a:r>
            <a:br>
              <a:rPr lang="ru-RU" dirty="0"/>
            </a:br>
            <a:r>
              <a:rPr lang="ru-RU" dirty="0"/>
              <a:t>Он используется для определения корректного заголовка </a:t>
            </a:r>
            <a:r>
              <a:rPr lang="ru-RU" dirty="0" err="1"/>
              <a:t>байткода</a:t>
            </a:r>
            <a:r>
              <a:rPr lang="ru-RU" dirty="0"/>
              <a:t> Python, необходимого для последующей декомпиляции.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9A732C-BE07-4216-B597-0AC3648B9D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64" y="1517188"/>
            <a:ext cx="5668166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92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44F549-9659-1EA8-AFCA-6E8D18617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C6E16B97-20BE-7E6E-BCBF-2EDF3343CB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F22FBC6-E676-76FB-E017-47865499984D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969FB9EB-C7BD-D094-F211-157461554F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65E7F1D1-763B-298A-D78A-A247B669245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1AC1A976-1E4D-7D4D-3A27-F1807AA62D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977D89DE-E325-F0B9-9A5C-DC2779C7054E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911CE6A-DC0C-24C0-F519-3972241D5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9</a:t>
            </a:fld>
            <a:endParaRPr lang="ru-RU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671412-92A1-A67D-DE87-7FB101900F03}"/>
              </a:ext>
            </a:extLst>
          </p:cNvPr>
          <p:cNvSpPr txBox="1"/>
          <p:nvPr/>
        </p:nvSpPr>
        <p:spPr>
          <a:xfrm>
            <a:off x="828675" y="501650"/>
            <a:ext cx="6515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Файл </a:t>
            </a:r>
            <a:r>
              <a:rPr lang="en-US" sz="2000" b="1" dirty="0" err="1"/>
              <a:t>python.pyc</a:t>
            </a:r>
            <a:r>
              <a:rPr lang="en-US" sz="2000" b="1" dirty="0"/>
              <a:t> </a:t>
            </a:r>
            <a:r>
              <a:rPr lang="ru-RU" sz="2000" b="1" dirty="0"/>
              <a:t>открытый в </a:t>
            </a:r>
            <a:r>
              <a:rPr lang="en-US" sz="2000" b="1" dirty="0"/>
              <a:t>Hex-</a:t>
            </a:r>
            <a:r>
              <a:rPr lang="ru-RU" sz="2000" b="1" dirty="0"/>
              <a:t>редакторе </a:t>
            </a:r>
            <a:r>
              <a:rPr lang="en-US" sz="2000" b="1" dirty="0"/>
              <a:t>010 Editor</a:t>
            </a:r>
            <a:endParaRPr lang="ru-RU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9FA51-6F96-23C4-C572-71847E31D12B}"/>
              </a:ext>
            </a:extLst>
          </p:cNvPr>
          <p:cNvSpPr txBox="1"/>
          <p:nvPr/>
        </p:nvSpPr>
        <p:spPr>
          <a:xfrm>
            <a:off x="828675" y="5131293"/>
            <a:ext cx="1044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Представлен анализ файла программы в формате .</a:t>
            </a:r>
            <a:r>
              <a:rPr lang="ru-RU" dirty="0" err="1"/>
              <a:t>pyc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Была произведена замена заголовка файла на полученный из стандартной библиотеки Python.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227D9B64-4062-BB75-3BDF-312EC5E750A2}"/>
              </a:ext>
            </a:extLst>
          </p:cNvPr>
          <p:cNvCxnSpPr/>
          <p:nvPr/>
        </p:nvCxnSpPr>
        <p:spPr>
          <a:xfrm>
            <a:off x="7522590" y="1725105"/>
            <a:ext cx="18853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8789A98C-C595-20F2-33A3-8571C36084E9}"/>
              </a:ext>
            </a:extLst>
          </p:cNvPr>
          <p:cNvCxnSpPr/>
          <p:nvPr/>
        </p:nvCxnSpPr>
        <p:spPr>
          <a:xfrm>
            <a:off x="1875934" y="1800520"/>
            <a:ext cx="17910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9002654-7277-AA63-A54C-ADABDE4DE1C9}"/>
              </a:ext>
            </a:extLst>
          </p:cNvPr>
          <p:cNvSpPr/>
          <p:nvPr/>
        </p:nvSpPr>
        <p:spPr>
          <a:xfrm>
            <a:off x="1778000" y="1209536"/>
            <a:ext cx="277043" cy="30298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6367ED2-B4A6-4634-999F-52D1F3F5D3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341" y="1080376"/>
            <a:ext cx="4970650" cy="398487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E503FC2-B425-4994-97EF-C8CDF401F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7411" y="1145807"/>
            <a:ext cx="4970650" cy="398487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1FE26B-83FD-B713-965B-DE29AF36B59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35" t="43177" r="71125" b="1"/>
          <a:stretch/>
        </p:blipFill>
        <p:spPr>
          <a:xfrm>
            <a:off x="6997442" y="1175935"/>
            <a:ext cx="216158" cy="185092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45602D0-4213-BEC6-96F8-DD636A24F087}"/>
              </a:ext>
            </a:extLst>
          </p:cNvPr>
          <p:cNvSpPr/>
          <p:nvPr/>
        </p:nvSpPr>
        <p:spPr>
          <a:xfrm>
            <a:off x="6966999" y="1081475"/>
            <a:ext cx="277043" cy="30298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6974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738DBE-2E2B-ED89-F5AF-5E40F6FBB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7D7928E8-7230-9705-B588-F351011D56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1D2078B8-FCDF-411E-FEF9-7F1F092DCE51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4F99118D-4F0C-9B91-37A0-F850238F24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A2C79EC3-8BE5-B104-08FC-01EAAEAEFA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3280984F-B006-C7B2-7480-FA56FE6847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3149240D-9061-5C2F-6558-90D304012F15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69CA6E1-A0BD-844B-CA10-50576958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10</a:t>
            </a:fld>
            <a:endParaRPr lang="ru-RU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B9DDB-EDDA-5FA7-9BA1-6204760A0EF5}"/>
              </a:ext>
            </a:extLst>
          </p:cNvPr>
          <p:cNvSpPr txBox="1"/>
          <p:nvPr/>
        </p:nvSpPr>
        <p:spPr>
          <a:xfrm>
            <a:off x="828675" y="501650"/>
            <a:ext cx="6515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Полученный исходный код из </a:t>
            </a:r>
            <a:r>
              <a:rPr lang="en-US" sz="2000" b="1" dirty="0"/>
              <a:t>exe</a:t>
            </a:r>
            <a:r>
              <a:rPr lang="ru-RU" sz="2000" b="1" dirty="0"/>
              <a:t> файла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F03B124-C4B7-3944-4023-2DBA5186865C}"/>
              </a:ext>
            </a:extLst>
          </p:cNvPr>
          <p:cNvSpPr/>
          <p:nvPr/>
        </p:nvSpPr>
        <p:spPr>
          <a:xfrm>
            <a:off x="2475605" y="5621893"/>
            <a:ext cx="7240788" cy="73866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ru-RU" sz="1400" dirty="0"/>
              <a:t>Результат декомпиляции </a:t>
            </a:r>
            <a:r>
              <a:rPr lang="ru-RU" sz="1400" dirty="0" err="1"/>
              <a:t>байткода</a:t>
            </a:r>
            <a:r>
              <a:rPr lang="ru-RU" sz="1400" dirty="0"/>
              <a:t> Python с использованием инструмента </a:t>
            </a:r>
            <a:r>
              <a:rPr lang="en-US" sz="1400" dirty="0"/>
              <a:t>pylingual.io</a:t>
            </a:r>
            <a:r>
              <a:rPr lang="ru-RU" sz="1400" dirty="0"/>
              <a:t>.</a:t>
            </a:r>
            <a:br>
              <a:rPr lang="ru-RU" sz="1400" dirty="0"/>
            </a:br>
            <a:r>
              <a:rPr lang="ru-RU" sz="1400" dirty="0"/>
              <a:t>Восстановленный исходный код практически полностью соответствует оригинальной программе.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E712D7F-E815-42C5-B825-B4041B094A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412" y="992097"/>
            <a:ext cx="10917174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513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519006" y="331046"/>
            <a:ext cx="68723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Вывод</a:t>
            </a:r>
            <a:r>
              <a:rPr lang="en-US" sz="2800" dirty="0"/>
              <a:t>: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C2A006-0A85-4B28-9C6E-B918AAA1019D}"/>
              </a:ext>
            </a:extLst>
          </p:cNvPr>
          <p:cNvSpPr txBox="1"/>
          <p:nvPr/>
        </p:nvSpPr>
        <p:spPr>
          <a:xfrm>
            <a:off x="876300" y="2551837"/>
            <a:ext cx="10439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ru-RU" dirty="0"/>
              <a:t>С помощью </a:t>
            </a:r>
            <a:r>
              <a:rPr lang="ru-RU" dirty="0" err="1"/>
              <a:t>PyInstaller</a:t>
            </a:r>
            <a:r>
              <a:rPr lang="ru-RU" dirty="0"/>
              <a:t> </a:t>
            </a:r>
            <a:r>
              <a:rPr lang="ru-RU" dirty="0" err="1"/>
              <a:t>Extractor</a:t>
            </a:r>
            <a:r>
              <a:rPr lang="ru-RU" dirty="0"/>
              <a:t> из EXE-контейнера выделен байт-код Python.</a:t>
            </a:r>
          </a:p>
          <a:p>
            <a:pPr marL="342900" indent="-342900">
              <a:buAutoNum type="arabicPeriod"/>
            </a:pPr>
            <a:r>
              <a:rPr lang="ru-RU" dirty="0" err="1"/>
              <a:t>Декомпилированный</a:t>
            </a:r>
            <a:r>
              <a:rPr lang="ru-RU" dirty="0"/>
              <a:t> код практически полностью соответствует оригиналу (за исключением проблем с кодировкой кириллицы).</a:t>
            </a:r>
          </a:p>
          <a:p>
            <a:pPr marL="342900" indent="-342900">
              <a:buAutoNum type="arabicPeriod"/>
            </a:pPr>
            <a:r>
              <a:rPr lang="ru-RU" dirty="0"/>
              <a:t>Использование байт-кода делает Python-программы открытыми для быстрого реверс-инжиниринга.</a:t>
            </a:r>
          </a:p>
          <a:p>
            <a:pPr marL="342900" indent="-342900">
              <a:buAutoNum type="arabicPeriod"/>
            </a:pPr>
            <a:r>
              <a:rPr lang="ru-RU" dirty="0"/>
              <a:t>По сравнению с приложениями на языке C/C++, уровень защиты Python-программ значительно ниже.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34322CB-B61A-4DDC-8A8C-845EE184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11</a:t>
            </a:fld>
            <a:endParaRPr lang="ru-RU" altLang="en-US"/>
          </a:p>
        </p:txBody>
      </p:sp>
    </p:spTree>
    <p:extLst>
      <p:ext uri="{BB962C8B-B14F-4D97-AF65-F5344CB8AC3E}">
        <p14:creationId xmlns:p14="http://schemas.microsoft.com/office/powerpoint/2010/main" val="81492781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3714</TotalTime>
  <Words>377</Words>
  <Application>Microsoft Office PowerPoint</Application>
  <PresentationFormat>Широкоэкранный</PresentationFormat>
  <Paragraphs>57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等线</vt:lpstr>
      <vt:lpstr>Aptos Display</vt:lpstr>
      <vt:lpstr>Akrobat Black</vt:lpstr>
      <vt:lpstr>Akrobat</vt:lpstr>
      <vt:lpstr>Arial Black</vt:lpstr>
      <vt:lpstr>Aptos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Файл ex4.pyc  и abc.pyc и их расположение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Xiaomi</dc:creator>
  <cp:lastModifiedBy>всеволод левин</cp:lastModifiedBy>
  <cp:revision>189</cp:revision>
  <dcterms:created xsi:type="dcterms:W3CDTF">2024-09-10T07:53:00Z</dcterms:created>
  <dcterms:modified xsi:type="dcterms:W3CDTF">2026-06-04T07:31:41Z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85F69DFBD54D4A58BC3CE05CEB498B89_13</vt:lpwstr>
  </property>
  <property fmtid="{D5CDD505-2E9C-101B-9397-08002B2CF9AE}" pid="3" name="KSOProductBuildVer">
    <vt:lpwstr>1049-12.2.0.18911</vt:lpwstr>
  </property>
</Properties>
</file>