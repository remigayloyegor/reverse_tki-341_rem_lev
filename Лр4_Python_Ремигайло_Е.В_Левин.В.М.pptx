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67" r:id="rId2"/>
    <p:sldId id="328" r:id="rId3"/>
    <p:sldId id="491" r:id="rId4"/>
    <p:sldId id="280" r:id="rId5"/>
    <p:sldId id="486" r:id="rId6"/>
    <p:sldId id="487" r:id="rId7"/>
    <p:sldId id="492" r:id="rId8"/>
    <p:sldId id="488" r:id="rId9"/>
    <p:sldId id="489" r:id="rId10"/>
    <p:sldId id="490" r:id="rId11"/>
    <p:sldId id="310" r:id="rId12"/>
  </p:sldIdLst>
  <p:sldSz cx="12192000" cy="6858000"/>
  <p:notesSz cx="6858000" cy="9144000"/>
  <p:embeddedFontLst>
    <p:embeddedFont>
      <p:font typeface="Akrobat" panose="020B0604020202020204" charset="-52"/>
      <p:regular r:id="rId14"/>
      <p:bold r:id="rId15"/>
    </p:embeddedFont>
    <p:embeddedFont>
      <p:font typeface="Akrobat Black" panose="020B0604020202020204" charset="-52"/>
      <p:bold r:id="rId16"/>
    </p:embeddedFont>
    <p:embeddedFont>
      <p:font typeface="Arial Black" panose="020B0A04020102020204" pitchFamily="34" charset="0"/>
      <p:bold r:id="rId17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5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04.06.2026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C589-89E1-1BCA-1773-CCA67DBE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E4CEE487-8E19-5EB6-1CE4-4BCB391ECED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C701BB7E-DEA6-33A9-D81F-2AFA6A1292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C68EB94-2593-EC23-43DF-4A9E400A2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040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8D38-660F-AE0B-DEB2-F740EC0A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CFAB0E63-242B-094A-DAFA-53B0C0AFDE8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FE91EFA-867D-34ED-CAE6-C760344B75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F19CED6-29B9-502D-B331-88A8C53E4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393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E96E-6BF4-18A1-0833-672482B5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D97E59F-ED32-2517-38DE-6AB7B12AE18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9E9BF53A-A737-21F1-E0F6-21402C7594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84737A37-B59C-89A5-C113-77026BA7F5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444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F542-FF0B-067F-E115-3B8B3A70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41366C1-70FA-9E19-19C2-4F383F75DF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F1BEF24-7E36-9E51-D0E4-157E18C8813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A4AE3E9-A617-C7D0-7467-383539EA5E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928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09B6-A3CE-0819-4C26-F97FB9E2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A9D1CC66-FB38-3660-4421-C54036506BD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F58E4115-F2DE-D7A2-4A1F-C66841E6D4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D7F50C4-7B2C-D72C-5CE6-EB5696ECE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9957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39D4-D778-C6DB-4AF2-5A4DE960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54EEB77B-8040-5284-0754-C7F03DE5B60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7AAB12F6-E46C-E5ED-9F3A-9F3A4FB827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ABB3278-76DD-99BD-5892-16504C6CD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1762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60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11.xml"/><Relationship Id="rId3" Type="http://schemas.openxmlformats.org/officeDocument/2006/relationships/image" Target="../media/image5.png"/><Relationship Id="rId7" Type="http://schemas.openxmlformats.org/officeDocument/2006/relationships/slide" Target="slide3.xml"/><Relationship Id="rId12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8.xml"/><Relationship Id="rId5" Type="http://schemas.openxmlformats.org/officeDocument/2006/relationships/image" Target="../media/image3.png"/><Relationship Id="rId10" Type="http://schemas.openxmlformats.org/officeDocument/2006/relationships/slide" Target="slide6.xml"/><Relationship Id="rId4" Type="http://schemas.openxmlformats.org/officeDocument/2006/relationships/image" Target="../media/image6.png"/><Relationship Id="rId9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Ремигайло Егор–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Левин Всеволод–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latin typeface="Akrobat Black" pitchFamily="2" charset="-52"/>
              </a:rPr>
              <a:t>:</a:t>
            </a:r>
            <a:endParaRPr lang="ru-RU" altLang="zh-CN" sz="2400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965E-A9FC-E840-B336-9B52E1BF743D}"/>
              </a:ext>
            </a:extLst>
          </p:cNvPr>
          <p:cNvSpPr txBox="1"/>
          <p:nvPr/>
        </p:nvSpPr>
        <p:spPr>
          <a:xfrm>
            <a:off x="446690" y="488459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b="1" dirty="0"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E2C2-E52B-1E40-6855-646B39671DBF}"/>
              </a:ext>
            </a:extLst>
          </p:cNvPr>
          <p:cNvSpPr txBox="1"/>
          <p:nvPr/>
        </p:nvSpPr>
        <p:spPr>
          <a:xfrm>
            <a:off x="466725" y="5178890"/>
            <a:ext cx="5656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ru-RU" altLang="zh-CN" sz="1600" dirty="0">
                <a:latin typeface="Akrobat" pitchFamily="2" charset="-52"/>
              </a:rPr>
              <a:t>Сидоренко Валентина Геннадьевна – проф., доктор технических наук</a:t>
            </a:r>
            <a:endParaRPr lang="en-US" altLang="zh-CN" sz="1600" dirty="0">
              <a:latin typeface="Akrobat" pitchFamily="2" charset="-52"/>
            </a:endParaRPr>
          </a:p>
          <a:p>
            <a:pPr eaLnBrk="1" hangingPunct="1"/>
            <a:r>
              <a:rPr lang="en-US" altLang="zh-CN" sz="1600" dirty="0">
                <a:latin typeface="Akrobat" pitchFamily="2" charset="-52"/>
              </a:rPr>
              <a:t>C</a:t>
            </a:r>
            <a:r>
              <a:rPr lang="ru-RU" altLang="zh-CN" sz="1600" dirty="0" err="1">
                <a:latin typeface="Akrobat" pitchFamily="2" charset="-52"/>
              </a:rPr>
              <a:t>афронов</a:t>
            </a:r>
            <a:r>
              <a:rPr lang="ru-RU" altLang="zh-CN" sz="1600" dirty="0">
                <a:latin typeface="Akrobat" pitchFamily="2" charset="-52"/>
              </a:rPr>
              <a:t> Антон Игоревич – доцент, кандидат технических наук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0E75A-1E8A-BE03-08AE-89CA6247B855}"/>
              </a:ext>
            </a:extLst>
          </p:cNvPr>
          <p:cNvSpPr txBox="1"/>
          <p:nvPr/>
        </p:nvSpPr>
        <p:spPr>
          <a:xfrm>
            <a:off x="466725" y="577907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b="1" dirty="0">
                <a:latin typeface="Akrobat Black" pitchFamily="2" charset="-52"/>
              </a:rPr>
              <a:t>КАФЕДРА</a:t>
            </a:r>
            <a:r>
              <a:rPr lang="en-US" altLang="en-US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B9CAA-333F-9FCC-F40B-A956D0ACF885}"/>
              </a:ext>
            </a:extLst>
          </p:cNvPr>
          <p:cNvSpPr txBox="1"/>
          <p:nvPr/>
        </p:nvSpPr>
        <p:spPr>
          <a:xfrm>
            <a:off x="466725" y="6086852"/>
            <a:ext cx="3695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en-US" altLang="zh-CN" sz="2000" dirty="0">
                <a:latin typeface="Akrobat" pitchFamily="2" charset="-52"/>
              </a:rPr>
              <a:t>"</a:t>
            </a:r>
            <a:r>
              <a:rPr lang="ru-RU" altLang="zh-CN" sz="2000" dirty="0">
                <a:latin typeface="Akrobat" pitchFamily="2" charset="-52"/>
              </a:rPr>
              <a:t>Управление и защита информации</a:t>
            </a:r>
            <a:r>
              <a:rPr lang="en-US" altLang="zh-CN" sz="2000" dirty="0">
                <a:latin typeface="Akrobat" pitchFamily="2" charset="-52"/>
              </a:rPr>
              <a:t>”</a:t>
            </a:r>
            <a:r>
              <a:rPr lang="ru-RU" altLang="zh-CN" sz="2000" dirty="0">
                <a:latin typeface="Akrobat" pitchFamily="2" charset="-5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028CF-B3EB-1809-51A9-C7FF62BBF5D3}"/>
              </a:ext>
            </a:extLst>
          </p:cNvPr>
          <p:cNvSpPr txBox="1"/>
          <p:nvPr/>
        </p:nvSpPr>
        <p:spPr>
          <a:xfrm>
            <a:off x="660468" y="1386722"/>
            <a:ext cx="5038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Отчет по лабораторной работе №</a:t>
            </a:r>
            <a:r>
              <a:rPr lang="en-US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ru-RU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Оглавление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1CFCB-76BA-E27F-5DFA-4A4CF0DC44A6}"/>
              </a:ext>
            </a:extLst>
          </p:cNvPr>
          <p:cNvSpPr txBox="1"/>
          <p:nvPr/>
        </p:nvSpPr>
        <p:spPr>
          <a:xfrm>
            <a:off x="828675" y="1404594"/>
            <a:ext cx="760150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7" action="ppaction://hlinksldjump"/>
              </a:rPr>
              <a:t>Исходный код на </a:t>
            </a:r>
            <a:r>
              <a:rPr lang="en-US" dirty="0">
                <a:hlinkClick r:id="rId7" action="ppaction://hlinksldjump"/>
              </a:rPr>
              <a:t>C</a:t>
            </a:r>
            <a:r>
              <a:rPr lang="en-US" dirty="0"/>
              <a:t>………………………………………………………………………………. 3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8" action="ppaction://hlinksldjump"/>
              </a:rPr>
              <a:t>Конвертация в </a:t>
            </a:r>
            <a:r>
              <a:rPr lang="en-US" dirty="0">
                <a:hlinkClick r:id="rId8" action="ppaction://hlinksldjump"/>
              </a:rPr>
              <a:t>Python</a:t>
            </a:r>
            <a:r>
              <a:rPr lang="en-US" dirty="0"/>
              <a:t>…………………………………………………………………………... 4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9" action="ppaction://hlinksldjump"/>
              </a:rPr>
              <a:t>Создание и проверка </a:t>
            </a:r>
            <a:r>
              <a:rPr lang="en-US" dirty="0">
                <a:hlinkClick r:id="rId9" action="ppaction://hlinksldjump"/>
              </a:rPr>
              <a:t>exe</a:t>
            </a:r>
            <a:r>
              <a:rPr lang="ru-RU" dirty="0">
                <a:hlinkClick r:id="rId9" action="ppaction://hlinksldjump"/>
              </a:rPr>
              <a:t> – файла</a:t>
            </a:r>
            <a:r>
              <a:rPr lang="en-US" dirty="0"/>
              <a:t>…………………………………………………………. 5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u="sng" dirty="0"/>
              <a:t>Файл </a:t>
            </a:r>
            <a:r>
              <a:rPr lang="en-US" u="sng" dirty="0"/>
              <a:t>ex4.pyc </a:t>
            </a:r>
            <a:r>
              <a:rPr lang="ru-RU" u="sng" dirty="0"/>
              <a:t> и </a:t>
            </a:r>
            <a:r>
              <a:rPr lang="en-US" u="sng" dirty="0" err="1"/>
              <a:t>abc.pyc</a:t>
            </a:r>
            <a:r>
              <a:rPr lang="en-US" u="sng" dirty="0"/>
              <a:t> </a:t>
            </a:r>
            <a:r>
              <a:rPr lang="ru-RU" u="sng" dirty="0"/>
              <a:t>и их расположение</a:t>
            </a:r>
            <a:r>
              <a:rPr lang="en-US" dirty="0"/>
              <a:t>……………</a:t>
            </a:r>
            <a:r>
              <a:rPr lang="ru-RU" dirty="0"/>
              <a:t>..</a:t>
            </a:r>
            <a:r>
              <a:rPr lang="en-US" dirty="0"/>
              <a:t>………………………….. </a:t>
            </a:r>
            <a:r>
              <a:rPr lang="ru-RU" dirty="0"/>
              <a:t>6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10" action="ppaction://hlinksldjump"/>
              </a:rPr>
              <a:t>Извлечение данных из </a:t>
            </a:r>
            <a:r>
              <a:rPr lang="en-US" dirty="0">
                <a:hlinkClick r:id="rId10" action="ppaction://hlinksldjump"/>
              </a:rPr>
              <a:t>exe – </a:t>
            </a:r>
            <a:r>
              <a:rPr lang="ru-RU" dirty="0">
                <a:hlinkClick r:id="rId10" action="ppaction://hlinksldjump"/>
              </a:rPr>
              <a:t>файла</a:t>
            </a:r>
            <a:r>
              <a:rPr lang="en-US" dirty="0"/>
              <a:t>……………………………………………………….. </a:t>
            </a:r>
            <a:r>
              <a:rPr lang="ru-RU" dirty="0"/>
              <a:t>7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11" action="ppaction://hlinksldjump"/>
              </a:rPr>
              <a:t>Работа с  </a:t>
            </a:r>
            <a:r>
              <a:rPr lang="en-US" dirty="0">
                <a:hlinkClick r:id="rId11" action="ppaction://hlinksldjump"/>
              </a:rPr>
              <a:t>.</a:t>
            </a:r>
            <a:r>
              <a:rPr lang="en-US" dirty="0" err="1">
                <a:hlinkClick r:id="rId11" action="ppaction://hlinksldjump"/>
              </a:rPr>
              <a:t>pyc</a:t>
            </a:r>
            <a:r>
              <a:rPr lang="ru-RU" dirty="0">
                <a:hlinkClick r:id="rId11" action="ppaction://hlinksldjump"/>
              </a:rPr>
              <a:t> – файлами</a:t>
            </a:r>
            <a:r>
              <a:rPr lang="en-US" dirty="0"/>
              <a:t>……………………………………………………………………… </a:t>
            </a:r>
            <a:r>
              <a:rPr lang="ru-RU" dirty="0"/>
              <a:t>8</a:t>
            </a:r>
            <a:r>
              <a:rPr lang="en-US" dirty="0"/>
              <a:t>-</a:t>
            </a:r>
            <a:r>
              <a:rPr lang="ru-RU" dirty="0"/>
              <a:t>9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12" action="ppaction://hlinksldjump"/>
              </a:rPr>
              <a:t>Декомпиляция</a:t>
            </a:r>
            <a:r>
              <a:rPr lang="en-US" dirty="0"/>
              <a:t>……………………………………………………………</a:t>
            </a:r>
            <a:r>
              <a:rPr lang="ru-RU" dirty="0"/>
              <a:t>..</a:t>
            </a:r>
            <a:r>
              <a:rPr lang="en-US" dirty="0"/>
              <a:t>……………………….. </a:t>
            </a:r>
            <a:r>
              <a:rPr lang="ru-RU" dirty="0"/>
              <a:t>10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hlinkClick r:id="rId13" action="ppaction://hlinksldjump"/>
              </a:rPr>
              <a:t>Вывод</a:t>
            </a:r>
            <a:r>
              <a:rPr lang="en-US" dirty="0"/>
              <a:t>……………………………………………………………………………</a:t>
            </a:r>
            <a:r>
              <a:rPr lang="ru-RU" dirty="0"/>
              <a:t>….</a:t>
            </a:r>
            <a:r>
              <a:rPr lang="en-US" dirty="0"/>
              <a:t>…………………… 1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54E02-FAA0-DEA1-BCE8-C2CE330E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246AA54B-F01D-1C05-7673-0EA7BCB7CB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42C113F-2435-1CED-FDBF-109BFDE5527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32C406D5-CD2A-AD20-2F88-59BEB75B8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D83FD40B-29E9-D3E9-5DDD-C4F6737AE1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B23A900-FD84-B364-9A8E-CB41105F02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8C279FA9-EBD7-5287-0CEA-AE089CD31E8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4612DD-1637-B803-5F3F-19FB34DB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9CB1D-0002-FBBE-E541-2E4DA6B28E84}"/>
              </a:ext>
            </a:extLst>
          </p:cNvPr>
          <p:cNvSpPr txBox="1"/>
          <p:nvPr/>
        </p:nvSpPr>
        <p:spPr>
          <a:xfrm>
            <a:off x="846537" y="642254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Скриншот исходного кода на языке С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94B563-C35C-48B5-9B66-76C860E55E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8311" y="1163586"/>
            <a:ext cx="4904317" cy="50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9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60788-9AAC-9F39-5A9F-BC3533D2762A}"/>
              </a:ext>
            </a:extLst>
          </p:cNvPr>
          <p:cNvSpPr txBox="1"/>
          <p:nvPr/>
        </p:nvSpPr>
        <p:spPr>
          <a:xfrm>
            <a:off x="828675" y="501650"/>
            <a:ext cx="651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Скриншот исходного кода, конвертированного с помощью </a:t>
            </a:r>
            <a:r>
              <a:rPr lang="en-US" sz="2000" b="1" dirty="0" err="1"/>
              <a:t>CodeConvertor</a:t>
            </a:r>
            <a:r>
              <a:rPr lang="en-US" sz="2000" b="1" dirty="0"/>
              <a:t> </a:t>
            </a:r>
            <a:r>
              <a:rPr lang="ru-RU" sz="2000" b="1" dirty="0"/>
              <a:t>на </a:t>
            </a:r>
            <a:r>
              <a:rPr lang="en-US" sz="2000" b="1" dirty="0"/>
              <a:t>Python</a:t>
            </a: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4D37F2-0478-4C89-9226-925B684C6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284" y="1209535"/>
            <a:ext cx="6311971" cy="5378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7F068-D862-4D4B-30AD-6F0893F9C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05C646A1-B9BD-5792-8420-A11C79B41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17054FC-DEC6-40C9-EAC7-2637D0A13EC7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C5069D4C-21CD-70DC-9B4A-41D8FF377A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CB20EC0D-E25F-68D5-BD77-34F765F5735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48CDB10-4AF5-CA4F-6DE1-5D83423D6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E8ECE2F0-8F8D-3FF7-D955-7854908FFB0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8BCCDA-1400-2F1E-9C1E-F6E02207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90886-69C6-6A67-5BD7-914D8B51149E}"/>
              </a:ext>
            </a:extLst>
          </p:cNvPr>
          <p:cNvSpPr txBox="1"/>
          <p:nvPr/>
        </p:nvSpPr>
        <p:spPr>
          <a:xfrm>
            <a:off x="820049" y="613793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Скриншот результата работы файла на </a:t>
            </a:r>
            <a:r>
              <a:rPr lang="en-US" sz="2000" b="1" dirty="0"/>
              <a:t>Python</a:t>
            </a:r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F9E89-3A13-44B2-8060-3D56BD03C03A}"/>
              </a:ext>
            </a:extLst>
          </p:cNvPr>
          <p:cNvSpPr txBox="1"/>
          <p:nvPr/>
        </p:nvSpPr>
        <p:spPr>
          <a:xfrm>
            <a:off x="901273" y="4651900"/>
            <a:ext cx="10389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данном скриншоте показан результат выполнения программы, созданной с помощью </a:t>
            </a:r>
            <a:r>
              <a:rPr lang="ru-RU" dirty="0" err="1"/>
              <a:t>PyInstaller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Программа корректно обрабатывает пользовательский ввод и выводит результат вычислений.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3F2BF9-B044-4293-9A50-7B0486CF2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345" y="1282770"/>
            <a:ext cx="476316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3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87BE1-597F-F95E-2210-819F2E02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342C7BF3-B6CA-E25E-5C06-6A68B90F7D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AF92316-4D4A-BB4E-DB4A-07CD87B8E04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8213864-6748-972E-86E6-69F5DA8BA9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38638794-474C-6CDE-BF26-F603505F779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2B7115B-A2F4-B388-409E-629F3C107F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426DF0A6-AA7E-22CE-2E97-8CD81464BBF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A75852-9F23-FF29-2CF4-2E626C5D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0882E-873B-C995-E5B6-241DD28AA100}"/>
              </a:ext>
            </a:extLst>
          </p:cNvPr>
          <p:cNvSpPr txBox="1"/>
          <p:nvPr/>
        </p:nvSpPr>
        <p:spPr>
          <a:xfrm>
            <a:off x="828675" y="501650"/>
            <a:ext cx="651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Результат запуска </a:t>
            </a:r>
            <a:r>
              <a:rPr lang="ru-RU" sz="2000" b="1" dirty="0" err="1"/>
              <a:t>PyInstaller</a:t>
            </a:r>
            <a:r>
              <a:rPr lang="ru-RU" sz="2000" b="1" dirty="0"/>
              <a:t> </a:t>
            </a:r>
            <a:r>
              <a:rPr lang="ru-RU" sz="2000" b="1" dirty="0" err="1"/>
              <a:t>Extractor</a:t>
            </a:r>
            <a:r>
              <a:rPr lang="ru-RU" sz="2000" b="1" dirty="0"/>
              <a:t> в командной строке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01351-66CC-6C32-CD37-8AC5B3E0DC73}"/>
              </a:ext>
            </a:extLst>
          </p:cNvPr>
          <p:cNvSpPr txBox="1"/>
          <p:nvPr/>
        </p:nvSpPr>
        <p:spPr>
          <a:xfrm>
            <a:off x="755213" y="4428841"/>
            <a:ext cx="10681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Представлен процесс извлечения содержимого </a:t>
            </a:r>
            <a:r>
              <a:rPr lang="ru-RU" dirty="0" err="1"/>
              <a:t>exe</a:t>
            </a:r>
            <a:r>
              <a:rPr lang="ru-RU" dirty="0"/>
              <a:t>-файла с использованием утилиты </a:t>
            </a:r>
            <a:r>
              <a:rPr lang="ru-RU" dirty="0" err="1"/>
              <a:t>PyInstaller</a:t>
            </a:r>
            <a:r>
              <a:rPr lang="ru-RU" dirty="0"/>
              <a:t> </a:t>
            </a:r>
            <a:r>
              <a:rPr lang="ru-RU" dirty="0" err="1"/>
              <a:t>Extractor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результате выполнения создаётся директория, содержащая файлы </a:t>
            </a:r>
            <a:r>
              <a:rPr lang="ru-RU" dirty="0" err="1"/>
              <a:t>байткода</a:t>
            </a:r>
            <a:r>
              <a:rPr lang="ru-RU" dirty="0"/>
              <a:t> Python (.</a:t>
            </a:r>
            <a:r>
              <a:rPr lang="ru-RU" dirty="0" err="1"/>
              <a:t>pyc</a:t>
            </a:r>
            <a:r>
              <a:rPr lang="ru-RU" dirty="0"/>
              <a:t>), необходимые для дальнейшего анализа.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3289E6-195C-67B5-C2DA-6F5BF6D5E9D9}"/>
              </a:ext>
            </a:extLst>
          </p:cNvPr>
          <p:cNvSpPr/>
          <p:nvPr/>
        </p:nvSpPr>
        <p:spPr>
          <a:xfrm>
            <a:off x="1556366" y="2121031"/>
            <a:ext cx="2827098" cy="377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F2DA85-A08B-464A-BA32-085778EA7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019" y="1615479"/>
            <a:ext cx="9202434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7A8B5-D379-4DD7-9325-A49C8AD7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12" y="320675"/>
            <a:ext cx="10515600" cy="1325563"/>
          </a:xfrm>
        </p:spPr>
        <p:txBody>
          <a:bodyPr/>
          <a:lstStyle/>
          <a:p>
            <a:r>
              <a:rPr lang="ru-RU" dirty="0"/>
              <a:t>Файл </a:t>
            </a:r>
            <a:r>
              <a:rPr lang="en-US" dirty="0"/>
              <a:t>ex4.pyc </a:t>
            </a:r>
            <a:r>
              <a:rPr lang="ru-RU" dirty="0"/>
              <a:t> и </a:t>
            </a:r>
            <a:r>
              <a:rPr lang="en-US" dirty="0" err="1"/>
              <a:t>abc.pyc</a:t>
            </a:r>
            <a:r>
              <a:rPr lang="en-US" dirty="0"/>
              <a:t> </a:t>
            </a:r>
            <a:r>
              <a:rPr lang="ru-RU" dirty="0"/>
              <a:t>и их расположение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510FFC-5C76-40D2-984F-82331388C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81DD1A-BCC7-4627-AEB8-D3FFA7B9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CB51-31ED-4C09-A4A0-FBB363AB4F10}" type="slidenum">
              <a:rPr lang="ru-RU" altLang="en-US" smtClean="0"/>
              <a:pPr/>
              <a:t>7</a:t>
            </a:fld>
            <a:endParaRPr lang="ru-RU" alt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FEEA14-5AC0-4C33-B20F-24C254474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8" y="1859924"/>
            <a:ext cx="5646247" cy="37430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150640-A36C-4825-9FD1-7B69B597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83" y="1859924"/>
            <a:ext cx="6274417" cy="381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0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09C68-6481-D151-1CC6-88F7E32F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5E8DE8F4-AF95-B792-6495-0DE0DA8789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AD641C0-1C70-9004-F057-4282059F02F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5412BC7D-6E17-4472-2521-060F1C537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767B13B6-39B1-ADBB-0758-29759FA9B8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7D44DCBE-8892-4BC9-EB8F-8E9E9F56F5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037699B3-F8A6-0520-8B16-B98B7C0C92B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2005C-D337-75EF-F754-655A937F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B698D-97CD-A53A-09C0-DAF15F8DB68B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Файл </a:t>
            </a:r>
            <a:r>
              <a:rPr lang="en-US" sz="2000" b="1" dirty="0"/>
              <a:t>ex4.pyc </a:t>
            </a:r>
            <a:r>
              <a:rPr lang="ru-RU" sz="2000" b="1" dirty="0"/>
              <a:t>открытый в </a:t>
            </a:r>
            <a:r>
              <a:rPr lang="en-US" sz="2000" b="1" dirty="0"/>
              <a:t>Hex-</a:t>
            </a:r>
            <a:r>
              <a:rPr lang="ru-RU" sz="2000" b="1" dirty="0"/>
              <a:t>редакторе </a:t>
            </a:r>
            <a:r>
              <a:rPr lang="en-US" sz="2000" b="1" dirty="0"/>
              <a:t>010 Editor</a:t>
            </a:r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BC5FB-292A-2203-B7DC-F81FFAE65A6C}"/>
              </a:ext>
            </a:extLst>
          </p:cNvPr>
          <p:cNvSpPr txBox="1"/>
          <p:nvPr/>
        </p:nvSpPr>
        <p:spPr>
          <a:xfrm>
            <a:off x="6553662" y="2690336"/>
            <a:ext cx="51204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скриншоте показан файл </a:t>
            </a:r>
            <a:r>
              <a:rPr lang="en-US" dirty="0"/>
              <a:t>ex4</a:t>
            </a:r>
            <a:r>
              <a:rPr lang="ru-RU" dirty="0"/>
              <a:t>.</a:t>
            </a:r>
            <a:r>
              <a:rPr lang="ru-RU" dirty="0" err="1"/>
              <a:t>pyc</a:t>
            </a:r>
            <a:r>
              <a:rPr lang="ru-RU" dirty="0"/>
              <a:t>, открытый в </a:t>
            </a:r>
            <a:r>
              <a:rPr lang="ru-RU" dirty="0" err="1"/>
              <a:t>hex</a:t>
            </a:r>
            <a:r>
              <a:rPr lang="ru-RU" dirty="0"/>
              <a:t>-редакторе.</a:t>
            </a:r>
            <a:br>
              <a:rPr lang="ru-RU" dirty="0"/>
            </a:br>
            <a:r>
              <a:rPr lang="ru-RU" dirty="0"/>
              <a:t>Он используется для определения корректного заголовка </a:t>
            </a:r>
            <a:r>
              <a:rPr lang="ru-RU" dirty="0" err="1"/>
              <a:t>байткода</a:t>
            </a:r>
            <a:r>
              <a:rPr lang="ru-RU" dirty="0"/>
              <a:t> Python, необходимого для последующей декомпиляции.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9A732C-BE07-4216-B597-0AC3648B9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64" y="1517188"/>
            <a:ext cx="566816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4F549-9659-1EA8-AFCA-6E8D1861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C6E16B97-20BE-7E6E-BCBF-2EDF3343C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F22FBC6-E676-76FB-E017-47865499984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69FB9EB-C7BD-D094-F211-157461554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5E7F1D1-763B-298A-D78A-A247B66924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1AC1A976-1E4D-7D4D-3A27-F1807AA62D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977D89DE-E325-F0B9-9A5C-DC2779C7054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911CE6A-DC0C-24C0-F519-3972241D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9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671412-92A1-A67D-DE87-7FB101900F03}"/>
              </a:ext>
            </a:extLst>
          </p:cNvPr>
          <p:cNvSpPr txBox="1"/>
          <p:nvPr/>
        </p:nvSpPr>
        <p:spPr>
          <a:xfrm>
            <a:off x="828675" y="501650"/>
            <a:ext cx="651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Файл </a:t>
            </a:r>
            <a:r>
              <a:rPr lang="en-US" sz="2000" b="1" dirty="0" err="1"/>
              <a:t>python.pyc</a:t>
            </a:r>
            <a:r>
              <a:rPr lang="en-US" sz="2000" b="1" dirty="0"/>
              <a:t> </a:t>
            </a:r>
            <a:r>
              <a:rPr lang="ru-RU" sz="2000" b="1" dirty="0"/>
              <a:t>открытый в </a:t>
            </a:r>
            <a:r>
              <a:rPr lang="en-US" sz="2000" b="1" dirty="0"/>
              <a:t>Hex-</a:t>
            </a:r>
            <a:r>
              <a:rPr lang="ru-RU" sz="2000" b="1" dirty="0"/>
              <a:t>редакторе </a:t>
            </a:r>
            <a:r>
              <a:rPr lang="en-US" sz="2000" b="1" dirty="0"/>
              <a:t>010 Editor</a:t>
            </a:r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9FA51-6F96-23C4-C572-71847E31D12B}"/>
              </a:ext>
            </a:extLst>
          </p:cNvPr>
          <p:cNvSpPr txBox="1"/>
          <p:nvPr/>
        </p:nvSpPr>
        <p:spPr>
          <a:xfrm>
            <a:off x="828675" y="5131293"/>
            <a:ext cx="1044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Представлен анализ файла программы в формате .</a:t>
            </a:r>
            <a:r>
              <a:rPr lang="ru-RU" dirty="0" err="1"/>
              <a:t>pyc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Была произведена замена заголовка файла на полученный из стандартной библиотеки Python.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27D9B64-4062-BB75-3BDF-312EC5E750A2}"/>
              </a:ext>
            </a:extLst>
          </p:cNvPr>
          <p:cNvCxnSpPr/>
          <p:nvPr/>
        </p:nvCxnSpPr>
        <p:spPr>
          <a:xfrm>
            <a:off x="7522590" y="1725105"/>
            <a:ext cx="1885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789A98C-C595-20F2-33A3-8571C36084E9}"/>
              </a:ext>
            </a:extLst>
          </p:cNvPr>
          <p:cNvCxnSpPr/>
          <p:nvPr/>
        </p:nvCxnSpPr>
        <p:spPr>
          <a:xfrm>
            <a:off x="1875934" y="1800520"/>
            <a:ext cx="1791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002654-7277-AA63-A54C-ADABDE4DE1C9}"/>
              </a:ext>
            </a:extLst>
          </p:cNvPr>
          <p:cNvSpPr/>
          <p:nvPr/>
        </p:nvSpPr>
        <p:spPr>
          <a:xfrm>
            <a:off x="1778000" y="1209536"/>
            <a:ext cx="277043" cy="302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367ED2-B4A6-4634-999F-52D1F3F5D3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41" y="1080376"/>
            <a:ext cx="4970650" cy="39848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E503FC2-B425-4994-97EF-C8CDF401F1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411" y="1145807"/>
            <a:ext cx="4970650" cy="398487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1FE26B-83FD-B713-965B-DE29AF36B59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5" t="43177" r="71125" b="1"/>
          <a:stretch/>
        </p:blipFill>
        <p:spPr>
          <a:xfrm>
            <a:off x="6997442" y="1175935"/>
            <a:ext cx="216158" cy="185092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45602D0-4213-BEC6-96F8-DD636A24F087}"/>
              </a:ext>
            </a:extLst>
          </p:cNvPr>
          <p:cNvSpPr/>
          <p:nvPr/>
        </p:nvSpPr>
        <p:spPr>
          <a:xfrm>
            <a:off x="6966999" y="1081475"/>
            <a:ext cx="277043" cy="3029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974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38DBE-2E2B-ED89-F5AF-5E40F6FB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D7928E8-7230-9705-B588-F351011D5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2078B8-FCDF-411E-FEF9-7F1F092DCE51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4F99118D-4F0C-9B91-37A0-F850238F2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A2C79EC3-8BE5-B104-08FC-01EAAEAEFA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3280984F-B006-C7B2-7480-FA56FE6847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3149240D-9061-5C2F-6558-90D304012F1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9CA6E1-A0BD-844B-CA10-50576958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10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B9DDB-EDDA-5FA7-9BA1-6204760A0EF5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Полученный исходный код из </a:t>
            </a:r>
            <a:r>
              <a:rPr lang="en-US" sz="2000" b="1" dirty="0"/>
              <a:t>exe</a:t>
            </a:r>
            <a:r>
              <a:rPr lang="ru-RU" sz="2000" b="1" dirty="0"/>
              <a:t> файла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03B124-C4B7-3944-4023-2DBA5186865C}"/>
              </a:ext>
            </a:extLst>
          </p:cNvPr>
          <p:cNvSpPr/>
          <p:nvPr/>
        </p:nvSpPr>
        <p:spPr>
          <a:xfrm>
            <a:off x="2475605" y="5621893"/>
            <a:ext cx="7240788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1400" dirty="0"/>
              <a:t>Результат декомпиляции </a:t>
            </a:r>
            <a:r>
              <a:rPr lang="ru-RU" sz="1400" dirty="0" err="1"/>
              <a:t>байткода</a:t>
            </a:r>
            <a:r>
              <a:rPr lang="ru-RU" sz="1400" dirty="0"/>
              <a:t> Python с использованием инструмента </a:t>
            </a:r>
            <a:r>
              <a:rPr lang="en-US" sz="1400" dirty="0"/>
              <a:t>pylingual.io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dirty="0"/>
              <a:t>Восстановленный исходный код практически полностью соответствует оригинальной программе.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E712D7F-E815-42C5-B825-B4041B094A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12" y="992097"/>
            <a:ext cx="10917174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1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Вывод</a:t>
            </a:r>
            <a:r>
              <a:rPr lang="en-US" sz="2800" dirty="0"/>
              <a:t>:</a:t>
            </a:r>
            <a:endParaRPr lang="ru-R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2A006-0A85-4B28-9C6E-B918AAA1019D}"/>
              </a:ext>
            </a:extLst>
          </p:cNvPr>
          <p:cNvSpPr txBox="1"/>
          <p:nvPr/>
        </p:nvSpPr>
        <p:spPr>
          <a:xfrm>
            <a:off x="876300" y="2551837"/>
            <a:ext cx="10439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С помощью </a:t>
            </a:r>
            <a:r>
              <a:rPr lang="ru-RU" dirty="0" err="1"/>
              <a:t>PyInstaller</a:t>
            </a:r>
            <a:r>
              <a:rPr lang="ru-RU" dirty="0"/>
              <a:t> </a:t>
            </a:r>
            <a:r>
              <a:rPr lang="ru-RU" dirty="0" err="1"/>
              <a:t>Extractor</a:t>
            </a:r>
            <a:r>
              <a:rPr lang="ru-RU" dirty="0"/>
              <a:t> из EXE-контейнера выделен байт-код Python.</a:t>
            </a:r>
          </a:p>
          <a:p>
            <a:pPr marL="342900" indent="-342900">
              <a:buAutoNum type="arabicPeriod"/>
            </a:pPr>
            <a:r>
              <a:rPr lang="ru-RU" dirty="0" err="1"/>
              <a:t>Декомпилированный</a:t>
            </a:r>
            <a:r>
              <a:rPr lang="ru-RU" dirty="0"/>
              <a:t> код практически полностью соответствует оригиналу (за исключением проблем с кодировкой кириллицы).</a:t>
            </a:r>
          </a:p>
          <a:p>
            <a:pPr marL="342900" indent="-342900">
              <a:buAutoNum type="arabicPeriod"/>
            </a:pPr>
            <a:r>
              <a:rPr lang="ru-RU" dirty="0"/>
              <a:t>Использование байт-кода делает Python-программы открытыми для быстрого реверс-инжиниринга.</a:t>
            </a:r>
          </a:p>
          <a:p>
            <a:pPr marL="342900" indent="-342900">
              <a:buAutoNum type="arabicPeriod"/>
            </a:pPr>
            <a:r>
              <a:rPr lang="ru-RU" dirty="0"/>
              <a:t>По сравнению с приложениями на языке C/C++, уровень защиты Python-программ значительно ниже.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4322CB-B61A-4DDC-8A8C-845EE18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149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3712</TotalTime>
  <Words>377</Words>
  <Application>Microsoft Office PowerPoint</Application>
  <PresentationFormat>Широкоэкранный</PresentationFormat>
  <Paragraphs>57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Akrobat Black</vt:lpstr>
      <vt:lpstr>Akrobat</vt:lpstr>
      <vt:lpstr>Arial Black</vt:lpstr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Файл ex4.pyc  и abc.pyc и их расположение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Igor</cp:lastModifiedBy>
  <cp:revision>188</cp:revision>
  <dcterms:created xsi:type="dcterms:W3CDTF">2024-09-10T07:53:00Z</dcterms:created>
  <dcterms:modified xsi:type="dcterms:W3CDTF">2026-06-03T23:18:57Z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