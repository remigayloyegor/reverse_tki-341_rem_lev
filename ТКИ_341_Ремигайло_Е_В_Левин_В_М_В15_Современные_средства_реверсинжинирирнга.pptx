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notesSlides/notesSlide2.xml" ContentType="application/vnd.openxmlformats-officedocument.presentationml.notesSl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9" r:id="rId2"/>
    <p:sldId id="473" r:id="rId3"/>
    <p:sldId id="488" r:id="rId4"/>
    <p:sldId id="258" r:id="rId5"/>
    <p:sldId id="487" r:id="rId6"/>
    <p:sldId id="486" r:id="rId7"/>
    <p:sldId id="493" r:id="rId8"/>
    <p:sldId id="494" r:id="rId9"/>
    <p:sldId id="475" r:id="rId10"/>
    <p:sldId id="495" r:id="rId11"/>
    <p:sldId id="483" r:id="rId12"/>
    <p:sldId id="474" r:id="rId13"/>
    <p:sldId id="484" r:id="rId14"/>
    <p:sldId id="490" r:id="rId15"/>
    <p:sldId id="269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D1AD9544-0DF6-42F8-ADB6-AF80BF3FB45D}">
          <p14:sldIdLst>
            <p14:sldId id="259"/>
            <p14:sldId id="473"/>
            <p14:sldId id="488"/>
            <p14:sldId id="258"/>
            <p14:sldId id="487"/>
            <p14:sldId id="486"/>
            <p14:sldId id="493"/>
            <p14:sldId id="494"/>
            <p14:sldId id="475"/>
            <p14:sldId id="495"/>
            <p14:sldId id="483"/>
            <p14:sldId id="474"/>
            <p14:sldId id="484"/>
            <p14:sldId id="490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Левахина Ксения Сергеевна" initials="ЛКС" lastIdx="1" clrIdx="0">
    <p:extLst>
      <p:ext uri="{19B8F6BF-5375-455C-9EA6-DF929625EA0E}">
        <p15:presenceInfo xmlns:p15="http://schemas.microsoft.com/office/powerpoint/2012/main" userId="Левахина Ксения Сергеевна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96" autoAdjust="0"/>
    <p:restoredTop sz="94397" autoAdjust="0"/>
  </p:normalViewPr>
  <p:slideViewPr>
    <p:cSldViewPr snapToGrid="0">
      <p:cViewPr varScale="1">
        <p:scale>
          <a:sx n="106" d="100"/>
          <a:sy n="106" d="100"/>
        </p:scale>
        <p:origin x="210" y="11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F7AC7B-00F5-48DD-8928-FD33BA30184F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5B2B51-16B6-4AAD-80E4-269AF0A318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7387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5B2B51-16B6-4AAD-80E4-269AF0A31870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98078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5B2B51-16B6-4AAD-80E4-269AF0A31870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51806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DA884-6834-43C3-9962-0908708BB635}" type="datetime1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1814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69084-B616-42FD-97D2-132FA2D9D3EC}" type="datetime1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6124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1D01F-863C-4B73-AC54-AFB6F8AF8771}" type="datetime1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0629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CCFC5-B553-4F02-B48C-3389B3E31F91}" type="datetime1">
              <a:rPr lang="ru-RU" smtClean="0"/>
              <a:t>04.06.2026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48470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9C083-1D60-4C1E-892A-B512768125D7}" type="datetime1">
              <a:rPr lang="ru-RU" smtClean="0"/>
              <a:t>04.06.2026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4995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FC138-E7BA-4AC9-88EA-6548305A1AE0}" type="datetime1">
              <a:rPr lang="ru-RU" smtClean="0"/>
              <a:t>04.06.2026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0354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368-0454-4E3E-B811-65D7920E7A00}" type="datetime1">
              <a:rPr lang="ru-RU" smtClean="0"/>
              <a:t>04.06.2026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9025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88E3F-F044-4CF9-8740-67EF25E77444}" type="datetime1">
              <a:rPr lang="ru-RU" smtClean="0"/>
              <a:t>04.06.2026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577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A3761-CBF7-4D01-8375-1A6A2B4DD86F}" type="datetime1">
              <a:rPr lang="ru-RU" smtClean="0"/>
              <a:t>04.06.2026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233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BED5A9-4DBA-47B9-8194-FDEF738E4669}" type="datetime1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2771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361B47-97FD-4EE6-8644-2D0CCBD0ABF0}" type="datetime1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5109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929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3308FB-D40B-40B6-9438-F3DDDC3FA85B}" type="datetime1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3D2B9D-3E5A-4208-B841-6DCB29E9E02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1377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Relationship Id="rId5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8000" t="7000" r="1000" b="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7694" y="1704110"/>
            <a:ext cx="5411586" cy="1458884"/>
          </a:xfrm>
        </p:spPr>
        <p:txBody>
          <a:bodyPr>
            <a:normAutofit fontScale="90000"/>
          </a:bodyPr>
          <a:lstStyle/>
          <a:p>
            <a:r>
              <a:rPr lang="ru-RU" sz="2800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Технология реверс-инжиниринга</a:t>
            </a:r>
            <a:br>
              <a:rPr lang="ru-RU" sz="2800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</a:br>
            <a:r>
              <a:rPr lang="ru-RU" sz="2800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Задание 7</a:t>
            </a:r>
            <a:br>
              <a:rPr lang="en-US" sz="280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</a:br>
            <a:endParaRPr lang="ru-RU" sz="2800" dirty="0">
              <a:solidFill>
                <a:schemeClr val="accent5">
                  <a:lumMod val="7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349134" y="4089862"/>
            <a:ext cx="6201296" cy="2123902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ru-RU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Выполнили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ru-RU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Ремигайло Е.В., Левин В.М., ТКИ-341</a:t>
            </a:r>
          </a:p>
          <a:p>
            <a:pPr algn="l"/>
            <a:r>
              <a:rPr lang="ru-RU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Проверили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ru-RU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ru-RU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Профессор, д.т.н. Сидоренко Валентина Геннадьевна</a:t>
            </a:r>
          </a:p>
          <a:p>
            <a:pPr algn="l"/>
            <a:r>
              <a:rPr lang="ru-RU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Доцент, к.т.н.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Сафронов Антон Игоревич </a:t>
            </a:r>
          </a:p>
          <a:p>
            <a:pPr algn="l"/>
            <a:endParaRPr lang="ru-RU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063605"/>
      </p:ext>
    </p:extLst>
  </p:cSld>
  <p:clrMapOvr>
    <a:masterClrMapping/>
  </p:clrMapOvr>
  <p:transition spd="slow">
    <p:cov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31263-0838-4F69-9F5D-CC4B33678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6101"/>
            <a:ext cx="10515600" cy="565900"/>
          </a:xfrm>
        </p:spPr>
        <p:txBody>
          <a:bodyPr>
            <a:normAutofit fontScale="90000"/>
          </a:bodyPr>
          <a:lstStyle/>
          <a:p>
            <a:r>
              <a:rPr lang="ru-RU" dirty="0"/>
              <a:t>Оглавление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6BA0D4A-8F98-4AA6-A0BD-6460A4079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2</a:t>
            </a:fld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E55595-84E9-4DB6-8E3D-A870531756B2}"/>
              </a:ext>
            </a:extLst>
          </p:cNvPr>
          <p:cNvSpPr txBox="1"/>
          <p:nvPr/>
        </p:nvSpPr>
        <p:spPr>
          <a:xfrm>
            <a:off x="838200" y="1183719"/>
            <a:ext cx="1075949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9263" indent="-449263" algn="just">
              <a:buAutoNum type="arabicPeriod"/>
            </a:pP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Что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такое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Radare2 и </a:t>
            </a: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Decai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</a:t>
            </a:r>
            <a:r>
              <a:rPr lang="ru-RU" sz="2400" u="sng" dirty="0"/>
              <a:t>- 3 </a:t>
            </a:r>
            <a:r>
              <a:rPr lang="ru-RU" sz="2400" u="sng" dirty="0" err="1"/>
              <a:t>стр</a:t>
            </a:r>
            <a:r>
              <a:rPr lang="ru-RU" sz="2400" u="sng" dirty="0"/>
              <a:t> </a:t>
            </a:r>
          </a:p>
          <a:p>
            <a:pPr marL="449263" indent="-449263" algn="just">
              <a:buAutoNum type="arabicPeriod"/>
            </a:pP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Схема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работы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инструмента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</a:t>
            </a:r>
            <a:r>
              <a:rPr lang="ru-RU" sz="2400" u="sng" dirty="0"/>
              <a:t>- </a:t>
            </a:r>
            <a:r>
              <a:rPr lang="en-US" sz="2400" u="sng" dirty="0"/>
              <a:t>4</a:t>
            </a:r>
            <a:r>
              <a:rPr lang="ru-RU" sz="2400" u="sng" dirty="0"/>
              <a:t> </a:t>
            </a:r>
            <a:r>
              <a:rPr lang="ru-RU" sz="2400" u="sng" dirty="0" err="1"/>
              <a:t>стр</a:t>
            </a:r>
            <a:endParaRPr lang="ru-RU" sz="2400" u="sng" dirty="0"/>
          </a:p>
          <a:p>
            <a:pPr marL="449263" indent="-449263" algn="just">
              <a:buAutoNum type="arabicPeriod"/>
            </a:pP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Установка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Windows </a:t>
            </a:r>
            <a:r>
              <a:rPr lang="ru-RU" sz="2400" u="sng" dirty="0"/>
              <a:t>- </a:t>
            </a:r>
            <a:r>
              <a:rPr lang="en-US" sz="2400" u="sng" dirty="0"/>
              <a:t>5</a:t>
            </a:r>
            <a:r>
              <a:rPr lang="ru-RU" sz="2400" u="sng" dirty="0"/>
              <a:t> </a:t>
            </a:r>
            <a:r>
              <a:rPr lang="ru-RU" sz="2400" u="sng" dirty="0" err="1"/>
              <a:t>стр</a:t>
            </a:r>
            <a:endParaRPr lang="ru-RU" sz="2400" u="sng" dirty="0"/>
          </a:p>
          <a:p>
            <a:pPr marL="449263" indent="-449263" algn="just">
              <a:buAutoNum type="arabicPeriod"/>
            </a:pP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Анализируемая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программа</a:t>
            </a:r>
            <a:r>
              <a:rPr lang="ru-RU" sz="2400" u="sng" dirty="0"/>
              <a:t>– </a:t>
            </a:r>
            <a:r>
              <a:rPr lang="en-US" sz="2400" u="sng" dirty="0"/>
              <a:t>6</a:t>
            </a:r>
            <a:r>
              <a:rPr lang="ru-RU" sz="2400" u="sng" dirty="0"/>
              <a:t> </a:t>
            </a:r>
            <a:r>
              <a:rPr lang="ru-RU" sz="2400" u="sng" dirty="0" err="1"/>
              <a:t>стр</a:t>
            </a:r>
            <a:endParaRPr lang="ru-RU" sz="2400" u="sng" dirty="0"/>
          </a:p>
          <a:p>
            <a:pPr marL="449263" indent="-449263" algn="just">
              <a:buAutoNum type="arabicPeriod"/>
            </a:pP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Процесс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анализа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в Radare2</a:t>
            </a:r>
            <a:r>
              <a:rPr lang="ru-RU" sz="2400" u="sng" dirty="0"/>
              <a:t> – </a:t>
            </a:r>
            <a:r>
              <a:rPr lang="en-US" sz="2400" u="sng" dirty="0"/>
              <a:t>7</a:t>
            </a:r>
            <a:r>
              <a:rPr lang="ru-RU" sz="2400" u="sng" dirty="0"/>
              <a:t> </a:t>
            </a:r>
            <a:r>
              <a:rPr lang="ru-RU" sz="2400" u="sng" dirty="0" err="1"/>
              <a:t>стр</a:t>
            </a:r>
            <a:endParaRPr lang="en-US" sz="2400" u="sng" dirty="0"/>
          </a:p>
          <a:p>
            <a:pPr marL="449263" indent="-449263" algn="just">
              <a:buFontTx/>
              <a:buAutoNum type="arabicPeriod"/>
            </a:pP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Дизассемблер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функции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main</a:t>
            </a:r>
            <a:r>
              <a:rPr lang="ru-RU" sz="2400" u="sng" dirty="0"/>
              <a:t> - </a:t>
            </a:r>
            <a:r>
              <a:rPr lang="en-US" sz="2400" u="sng" dirty="0"/>
              <a:t>8</a:t>
            </a:r>
            <a:r>
              <a:rPr lang="ru-RU" sz="2400" u="sng" dirty="0"/>
              <a:t> </a:t>
            </a:r>
            <a:r>
              <a:rPr lang="ru-RU" sz="2400" u="sng" dirty="0" err="1"/>
              <a:t>стр</a:t>
            </a:r>
            <a:endParaRPr lang="en-US" sz="2400" u="sng" dirty="0"/>
          </a:p>
          <a:p>
            <a:pPr marL="449263" indent="-449263" algn="just">
              <a:buFontTx/>
              <a:buAutoNum type="arabicPeriod"/>
            </a:pP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Граф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потока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управления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(CFG)</a:t>
            </a:r>
            <a:r>
              <a:rPr lang="ru-RU" sz="2400" u="sng" dirty="0"/>
              <a:t>- </a:t>
            </a:r>
            <a:r>
              <a:rPr lang="en-US" sz="2400" u="sng" dirty="0"/>
              <a:t>9-10</a:t>
            </a:r>
            <a:r>
              <a:rPr lang="ru-RU" sz="2400" u="sng" dirty="0"/>
              <a:t> </a:t>
            </a:r>
            <a:r>
              <a:rPr lang="ru-RU" sz="2400" u="sng" dirty="0" err="1"/>
              <a:t>стр</a:t>
            </a:r>
            <a:endParaRPr lang="en-US" sz="2400" u="sng" dirty="0"/>
          </a:p>
          <a:p>
            <a:pPr marL="449263" indent="-449263" algn="just">
              <a:buFontTx/>
              <a:buAutoNum type="arabicPeriod"/>
            </a:pP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Результат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AI-</a:t>
            </a: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декомпиляции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</a:t>
            </a:r>
            <a:r>
              <a:rPr lang="ru-RU" sz="2400" u="sng" dirty="0"/>
              <a:t>- 1</a:t>
            </a:r>
            <a:r>
              <a:rPr lang="en-US" sz="2400" u="sng" dirty="0"/>
              <a:t>1</a:t>
            </a:r>
            <a:r>
              <a:rPr lang="ru-RU" sz="2400" u="sng" dirty="0"/>
              <a:t> </a:t>
            </a:r>
            <a:r>
              <a:rPr lang="ru-RU" sz="2400" u="sng" dirty="0" err="1"/>
              <a:t>стр</a:t>
            </a:r>
            <a:endParaRPr lang="en-US" sz="2400" u="sng" dirty="0"/>
          </a:p>
          <a:p>
            <a:pPr marL="449263" indent="-449263" algn="just">
              <a:buFontTx/>
              <a:buAutoNum type="arabicPeriod"/>
            </a:pP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Локальный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AI-</a:t>
            </a: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сервер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Ollama</a:t>
            </a:r>
            <a:r>
              <a:rPr lang="ru-RU" sz="2400" u="sng" dirty="0"/>
              <a:t>- 1</a:t>
            </a:r>
            <a:r>
              <a:rPr lang="en-US" sz="2400" u="sng" dirty="0"/>
              <a:t>2</a:t>
            </a:r>
            <a:r>
              <a:rPr lang="ru-RU" sz="2400" u="sng" dirty="0"/>
              <a:t> </a:t>
            </a:r>
            <a:r>
              <a:rPr lang="ru-RU" sz="2400" u="sng" dirty="0" err="1"/>
              <a:t>стр</a:t>
            </a:r>
            <a:endParaRPr lang="ru-RU" sz="2400" u="sng" dirty="0"/>
          </a:p>
          <a:p>
            <a:pPr marL="449263" indent="-449263" algn="just">
              <a:buFontTx/>
              <a:buAutoNum type="arabicPeriod"/>
            </a:pP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Сравнение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с </a:t>
            </a: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другими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инструментами</a:t>
            </a:r>
            <a:r>
              <a:rPr lang="ru-RU" sz="2400" u="sng" dirty="0"/>
              <a:t>– 1</a:t>
            </a:r>
            <a:r>
              <a:rPr lang="en-US" sz="2400" u="sng" dirty="0"/>
              <a:t>3</a:t>
            </a:r>
            <a:r>
              <a:rPr lang="ru-RU" sz="2400" u="sng" dirty="0"/>
              <a:t> </a:t>
            </a:r>
            <a:r>
              <a:rPr lang="ru-RU" sz="2400" u="sng" dirty="0" err="1"/>
              <a:t>стр</a:t>
            </a:r>
            <a:endParaRPr lang="ru-RU" sz="2400" u="sng" dirty="0"/>
          </a:p>
          <a:p>
            <a:pPr marL="449263" indent="-449263" algn="just">
              <a:buFontTx/>
              <a:buAutoNum type="arabicPeriod"/>
            </a:pP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Выводы</a:t>
            </a:r>
            <a:r>
              <a:rPr lang="ru-RU" sz="2400" u="sng" dirty="0"/>
              <a:t>– 1</a:t>
            </a:r>
            <a:r>
              <a:rPr lang="en-US" sz="2400" u="sng" dirty="0"/>
              <a:t>4</a:t>
            </a:r>
            <a:r>
              <a:rPr lang="ru-RU" sz="2400" u="sng" dirty="0"/>
              <a:t> </a:t>
            </a:r>
            <a:r>
              <a:rPr lang="ru-RU" sz="2400" u="sng" dirty="0" err="1"/>
              <a:t>стр</a:t>
            </a:r>
            <a:endParaRPr lang="ru-RU" sz="2400" u="sng" dirty="0"/>
          </a:p>
          <a:p>
            <a:pPr marL="449263" indent="-449263" algn="just">
              <a:buFontTx/>
              <a:buAutoNum type="arabicPeriod"/>
            </a:pP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Список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использованных</a:t>
            </a:r>
            <a:r>
              <a:rPr lang="en-US" sz="2400" u="sng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u="sng" dirty="0" err="1">
                <a:ea typeface="Calibri" pitchFamily="34" charset="-122"/>
                <a:cs typeface="Calibri" pitchFamily="34" charset="-120"/>
              </a:rPr>
              <a:t>источников</a:t>
            </a:r>
            <a:r>
              <a:rPr lang="ru-RU" sz="2400" u="sng" dirty="0"/>
              <a:t>– 1</a:t>
            </a:r>
            <a:r>
              <a:rPr lang="en-US" sz="2400" u="sng" dirty="0"/>
              <a:t>5</a:t>
            </a:r>
            <a:r>
              <a:rPr lang="ru-RU" sz="2400" u="sng" dirty="0"/>
              <a:t> </a:t>
            </a:r>
            <a:r>
              <a:rPr lang="ru-RU" sz="2400" u="sng" dirty="0" err="1"/>
              <a:t>стр</a:t>
            </a:r>
            <a:endParaRPr lang="en-US" sz="2400" u="sng" dirty="0"/>
          </a:p>
        </p:txBody>
      </p:sp>
    </p:spTree>
    <p:extLst>
      <p:ext uri="{BB962C8B-B14F-4D97-AF65-F5344CB8AC3E}">
        <p14:creationId xmlns:p14="http://schemas.microsoft.com/office/powerpoint/2010/main" val="35624172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E2FC75-F46B-DBC0-BB3B-F9993CA7D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Radare2 и </a:t>
            </a:r>
            <a:r>
              <a:rPr lang="en-US" sz="4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Decai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7F35E4-02A1-A4E9-B1D6-7841863AC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1909" y="6623437"/>
            <a:ext cx="6246412" cy="471392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ru-RU" sz="2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51DD29E-1B73-CCF5-71DF-37E484CC7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3</a:t>
            </a:fld>
            <a:endParaRPr lang="ru-RU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91EEFBEC-39DC-42D1-AFD3-AD87E1BB030A}"/>
              </a:ext>
            </a:extLst>
          </p:cNvPr>
          <p:cNvSpPr/>
          <p:nvPr/>
        </p:nvSpPr>
        <p:spPr>
          <a:xfrm>
            <a:off x="153909" y="1973655"/>
            <a:ext cx="5375948" cy="3576119"/>
          </a:xfrm>
          <a:prstGeom prst="roundRect">
            <a:avLst/>
          </a:prstGeom>
          <a:solidFill>
            <a:srgbClr val="EAF6FF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876C98A8-AA19-4B01-A020-6873A410AB18}"/>
              </a:ext>
            </a:extLst>
          </p:cNvPr>
          <p:cNvSpPr/>
          <p:nvPr/>
        </p:nvSpPr>
        <p:spPr>
          <a:xfrm>
            <a:off x="2127564" y="2064869"/>
            <a:ext cx="18469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Radare2</a:t>
            </a:r>
            <a:endParaRPr lang="en-US" sz="18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F2FCA5C2-D80B-4C2E-B6B1-98B67562AFB7}"/>
              </a:ext>
            </a:extLst>
          </p:cNvPr>
          <p:cNvSpPr/>
          <p:nvPr/>
        </p:nvSpPr>
        <p:spPr>
          <a:xfrm>
            <a:off x="317389" y="2613282"/>
            <a:ext cx="5029588" cy="27011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Свободный инструмент реверс-инжиниринга (GPL)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Дизассемблер, отладчик, анализатор бинарных файлов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Поддержка x86, x64, ARM и других архитектур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Консольный интерфейс с мощными командами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Версия 6.1.6 (2026)</a:t>
            </a:r>
            <a:endParaRPr lang="en-US" sz="200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2E199BFC-6179-45C1-8373-DA6705DD0366}"/>
              </a:ext>
            </a:extLst>
          </p:cNvPr>
          <p:cNvSpPr/>
          <p:nvPr/>
        </p:nvSpPr>
        <p:spPr>
          <a:xfrm>
            <a:off x="5895616" y="1973655"/>
            <a:ext cx="5538911" cy="3576119"/>
          </a:xfrm>
          <a:prstGeom prst="roundRect">
            <a:avLst/>
          </a:prstGeom>
          <a:solidFill>
            <a:srgbClr val="E8FFF5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662B959-D1A8-402C-B025-910FB092067A}"/>
              </a:ext>
            </a:extLst>
          </p:cNvPr>
          <p:cNvSpPr/>
          <p:nvPr/>
        </p:nvSpPr>
        <p:spPr>
          <a:xfrm>
            <a:off x="8051246" y="2157847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Decai (r2ai)</a:t>
            </a:r>
            <a:endParaRPr lang="en-US" sz="18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DE28BDE-9E30-432D-93BF-148C9A3F7B4F}"/>
              </a:ext>
            </a:extLst>
          </p:cNvPr>
          <p:cNvSpPr/>
          <p:nvPr/>
        </p:nvSpPr>
        <p:spPr>
          <a:xfrm>
            <a:off x="6078496" y="2669414"/>
            <a:ext cx="5102533" cy="26449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Плагин для radare2, интегрирующий LLM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Устанавливается через r2pm -ci decai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Поддерживает: OpenAI, Anthropic, Ollama и др.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decai -d — AI-декомпиляция функции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Открытый исходный код на GitHub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96872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199" y="436608"/>
            <a:ext cx="5257800" cy="640714"/>
          </a:xfrm>
        </p:spPr>
        <p:txBody>
          <a:bodyPr>
            <a:normAutofit fontScale="90000"/>
          </a:bodyPr>
          <a:lstStyle/>
          <a:p>
            <a:pPr marL="0" indent="0">
              <a:buNone/>
            </a:pPr>
            <a:r>
              <a:rPr lang="en-US" sz="2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Схема</a:t>
            </a:r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работы</a:t>
            </a:r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Radare2 + </a:t>
            </a:r>
            <a:r>
              <a:rPr lang="en-US" sz="2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Decai</a:t>
            </a:r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n-US" sz="2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Ollama</a:t>
            </a:r>
            <a:endParaRPr lang="en-US" sz="24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237C0C-FAB0-47B1-AB02-A0E18D5E2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4</a:t>
            </a:fld>
            <a:endParaRPr lang="ru-RU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9F068092-09FD-440A-A95B-BB314BBD186A}"/>
              </a:ext>
            </a:extLst>
          </p:cNvPr>
          <p:cNvSpPr/>
          <p:nvPr/>
        </p:nvSpPr>
        <p:spPr>
          <a:xfrm>
            <a:off x="1889759" y="2372008"/>
            <a:ext cx="1920240" cy="1280160"/>
          </a:xfrm>
          <a:prstGeom prst="roundRect">
            <a:avLst/>
          </a:prstGeom>
          <a:solidFill>
            <a:srgbClr val="FFE8E8"/>
          </a:solidFill>
          <a:ln w="25400">
            <a:solidFill>
              <a:srgbClr val="E05050"/>
            </a:solidFill>
            <a:prstDash val="solid"/>
          </a:ln>
        </p:spPr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756D7C6E-D5E2-4754-ABC1-1E5A3D8513E1}"/>
              </a:ext>
            </a:extLst>
          </p:cNvPr>
          <p:cNvSpPr/>
          <p:nvPr/>
        </p:nvSpPr>
        <p:spPr>
          <a:xfrm>
            <a:off x="1889759" y="2463448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 файл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(EGOR.exe)</a:t>
            </a:r>
            <a:endParaRPr lang="en-US" sz="1400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28C01F0D-0F9F-4516-8D6B-53C78A030375}"/>
              </a:ext>
            </a:extLst>
          </p:cNvPr>
          <p:cNvSpPr/>
          <p:nvPr/>
        </p:nvSpPr>
        <p:spPr>
          <a:xfrm>
            <a:off x="3992879" y="2372008"/>
            <a:ext cx="1920240" cy="1280160"/>
          </a:xfrm>
          <a:prstGeom prst="roundRect">
            <a:avLst/>
          </a:prstGeom>
          <a:solidFill>
            <a:srgbClr val="EAF6FF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6D1EB78-0C8D-4AFD-B1AC-C7D110154249}"/>
              </a:ext>
            </a:extLst>
          </p:cNvPr>
          <p:cNvSpPr/>
          <p:nvPr/>
        </p:nvSpPr>
        <p:spPr>
          <a:xfrm>
            <a:off x="3992879" y="2463448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Radare2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</a:t>
            </a:r>
            <a:endParaRPr lang="en-US" sz="140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971698FE-6A0C-43FC-809F-FC41365F3E4D}"/>
              </a:ext>
            </a:extLst>
          </p:cNvPr>
          <p:cNvSpPr/>
          <p:nvPr/>
        </p:nvSpPr>
        <p:spPr>
          <a:xfrm>
            <a:off x="6095999" y="2372008"/>
            <a:ext cx="1920240" cy="1280160"/>
          </a:xfrm>
          <a:prstGeom prst="roundRect">
            <a:avLst/>
          </a:prstGeom>
          <a:solidFill>
            <a:srgbClr val="E8FFF5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253829DC-DE48-4191-AD67-247E4F41F071}"/>
              </a:ext>
            </a:extLst>
          </p:cNvPr>
          <p:cNvSpPr/>
          <p:nvPr/>
        </p:nvSpPr>
        <p:spPr>
          <a:xfrm>
            <a:off x="6095999" y="2463448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Decai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Плагин</a:t>
            </a:r>
            <a:endParaRPr lang="en-US" sz="1400" dirty="0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D4D58DF0-F10F-49F2-8475-84F64728BDCA}"/>
              </a:ext>
            </a:extLst>
          </p:cNvPr>
          <p:cNvSpPr/>
          <p:nvPr/>
        </p:nvSpPr>
        <p:spPr>
          <a:xfrm>
            <a:off x="8199119" y="2372008"/>
            <a:ext cx="1920240" cy="1280160"/>
          </a:xfrm>
          <a:prstGeom prst="roundRect">
            <a:avLst/>
          </a:prstGeom>
          <a:solidFill>
            <a:srgbClr val="FFF5E8"/>
          </a:solidFill>
          <a:ln w="25400">
            <a:solidFill>
              <a:srgbClr val="E08030"/>
            </a:solidFill>
            <a:prstDash val="solid"/>
          </a:ln>
        </p:spPr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ECDBCE21-C330-4CFA-BC40-A0F4849D3469}"/>
              </a:ext>
            </a:extLst>
          </p:cNvPr>
          <p:cNvSpPr/>
          <p:nvPr/>
        </p:nvSpPr>
        <p:spPr>
          <a:xfrm>
            <a:off x="8199119" y="2463448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qwen2.5-coder</a:t>
            </a:r>
            <a:endParaRPr lang="en-US" sz="1400" dirty="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9ED37E42-98F1-4136-81A1-4D711B7827C2}"/>
              </a:ext>
            </a:extLst>
          </p:cNvPr>
          <p:cNvSpPr/>
          <p:nvPr/>
        </p:nvSpPr>
        <p:spPr>
          <a:xfrm>
            <a:off x="3828287" y="3012088"/>
            <a:ext cx="164592" cy="0"/>
          </a:xfrm>
          <a:prstGeom prst="line">
            <a:avLst/>
          </a:prstGeom>
          <a:noFill/>
          <a:ln w="25400">
            <a:solidFill>
              <a:srgbClr val="0F3460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A1CF3D5-5D1C-49A7-82D6-22FEBA1098FC}"/>
              </a:ext>
            </a:extLst>
          </p:cNvPr>
          <p:cNvSpPr/>
          <p:nvPr/>
        </p:nvSpPr>
        <p:spPr>
          <a:xfrm>
            <a:off x="3828287" y="2783488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54EA1A69-775E-4E16-BC95-1B7D8A4D2322}"/>
              </a:ext>
            </a:extLst>
          </p:cNvPr>
          <p:cNvSpPr/>
          <p:nvPr/>
        </p:nvSpPr>
        <p:spPr>
          <a:xfrm>
            <a:off x="5931407" y="3012088"/>
            <a:ext cx="164592" cy="0"/>
          </a:xfrm>
          <a:prstGeom prst="line">
            <a:avLst/>
          </a:prstGeom>
          <a:noFill/>
          <a:ln w="25400">
            <a:solidFill>
              <a:srgbClr val="0F3460"/>
            </a:solidFill>
            <a:prstDash val="solid"/>
          </a:ln>
        </p:spPr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A5A94165-FD9F-459A-86CB-3780DF7993E1}"/>
              </a:ext>
            </a:extLst>
          </p:cNvPr>
          <p:cNvSpPr/>
          <p:nvPr/>
        </p:nvSpPr>
        <p:spPr>
          <a:xfrm>
            <a:off x="5931407" y="2783488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44A2FB33-EBB5-41BF-8A90-C40FA6487AA4}"/>
              </a:ext>
            </a:extLst>
          </p:cNvPr>
          <p:cNvSpPr/>
          <p:nvPr/>
        </p:nvSpPr>
        <p:spPr>
          <a:xfrm>
            <a:off x="8034527" y="3012088"/>
            <a:ext cx="164592" cy="0"/>
          </a:xfrm>
          <a:prstGeom prst="line">
            <a:avLst/>
          </a:prstGeom>
          <a:noFill/>
          <a:ln w="25400">
            <a:solidFill>
              <a:srgbClr val="0F3460"/>
            </a:solidFill>
            <a:prstDash val="solid"/>
          </a:ln>
        </p:spPr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625A3185-51D4-4473-949D-54AEFD917249}"/>
              </a:ext>
            </a:extLst>
          </p:cNvPr>
          <p:cNvSpPr/>
          <p:nvPr/>
        </p:nvSpPr>
        <p:spPr>
          <a:xfrm>
            <a:off x="8034527" y="2783488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1CCD046D-C69C-4CBA-A543-9A5B8F14D81B}"/>
              </a:ext>
            </a:extLst>
          </p:cNvPr>
          <p:cNvSpPr/>
          <p:nvPr/>
        </p:nvSpPr>
        <p:spPr>
          <a:xfrm>
            <a:off x="3078479" y="4017928"/>
            <a:ext cx="6400800" cy="1280160"/>
          </a:xfrm>
          <a:prstGeom prst="roundRect">
            <a:avLst/>
          </a:prstGeom>
          <a:solidFill>
            <a:srgbClr val="F0F0FF"/>
          </a:solidFill>
          <a:ln w="25400">
            <a:solidFill>
              <a:srgbClr val="0F3460"/>
            </a:solidFill>
            <a:prstDash val="solid"/>
          </a:ln>
        </p:spPr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C5E2B9CE-76EE-4ED6-B140-8AC37A029C9B}"/>
              </a:ext>
            </a:extLst>
          </p:cNvPr>
          <p:cNvSpPr/>
          <p:nvPr/>
        </p:nvSpPr>
        <p:spPr>
          <a:xfrm>
            <a:off x="3169919" y="4109368"/>
            <a:ext cx="6217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Результат: читаемый псевдокод на C — структура программы восстановлена AI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425751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0A16D8-2D38-373B-B379-632DE5E36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7220" y="207963"/>
            <a:ext cx="10515600" cy="132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Установка</a:t>
            </a: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Windows</a:t>
            </a:r>
            <a:endParaRPr lang="en-US" sz="28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0AD02C-1F4D-E091-BA59-C8AB2231C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5</a:t>
            </a:fld>
            <a:endParaRPr lang="ru-RU"/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73C2B1C2-DC8D-4B02-89B7-BE224F1F8D0C}"/>
              </a:ext>
            </a:extLst>
          </p:cNvPr>
          <p:cNvSpPr/>
          <p:nvPr/>
        </p:nvSpPr>
        <p:spPr>
          <a:xfrm>
            <a:off x="617220" y="1452130"/>
            <a:ext cx="4766124" cy="1612080"/>
          </a:xfrm>
          <a:prstGeom prst="roundRect">
            <a:avLst/>
          </a:prstGeom>
          <a:solidFill>
            <a:srgbClr val="EAF6FF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ru-RU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1A04A2D4-C638-4DA7-AA99-2D7364221C1D}"/>
              </a:ext>
            </a:extLst>
          </p:cNvPr>
          <p:cNvSpPr/>
          <p:nvPr/>
        </p:nvSpPr>
        <p:spPr>
          <a:xfrm>
            <a:off x="829048" y="1678978"/>
            <a:ext cx="4342468" cy="5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Скачать архив</a:t>
            </a:r>
            <a:endParaRPr lang="en-US" sz="1600" dirty="0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78EDC833-3BCE-4F59-BF7B-401478FBB584}"/>
              </a:ext>
            </a:extLst>
          </p:cNvPr>
          <p:cNvSpPr/>
          <p:nvPr/>
        </p:nvSpPr>
        <p:spPr>
          <a:xfrm>
            <a:off x="795557" y="1970793"/>
            <a:ext cx="4342468" cy="8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radare2-6.1.6-w64.zip с GitHub Releases</a:t>
            </a:r>
            <a:endParaRPr lang="en-US" sz="1600" dirty="0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C85924B7-EE02-4864-A4EB-3E1B260AEB8F}"/>
              </a:ext>
            </a:extLst>
          </p:cNvPr>
          <p:cNvSpPr/>
          <p:nvPr/>
        </p:nvSpPr>
        <p:spPr>
          <a:xfrm>
            <a:off x="583729" y="3184000"/>
            <a:ext cx="4766124" cy="1612080"/>
          </a:xfrm>
          <a:prstGeom prst="roundRect">
            <a:avLst/>
          </a:prstGeom>
          <a:solidFill>
            <a:srgbClr val="F0FFF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BDB59863-8CA0-46E5-82A3-3A313F6BAEBC}"/>
              </a:ext>
            </a:extLst>
          </p:cNvPr>
          <p:cNvSpPr/>
          <p:nvPr/>
        </p:nvSpPr>
        <p:spPr>
          <a:xfrm>
            <a:off x="760088" y="3393693"/>
            <a:ext cx="4342468" cy="5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Распаковать</a:t>
            </a:r>
            <a:endParaRPr lang="en-US" sz="1600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EC1CB72E-2249-4D8E-8D49-55AED9DC885D}"/>
              </a:ext>
            </a:extLst>
          </p:cNvPr>
          <p:cNvSpPr/>
          <p:nvPr/>
        </p:nvSpPr>
        <p:spPr>
          <a:xfrm>
            <a:off x="760088" y="3793577"/>
            <a:ext cx="4342468" cy="8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папку без кириллицы (кириллица вызывает ошибки!)</a:t>
            </a:r>
            <a:endParaRPr lang="en-US" sz="1600" dirty="0"/>
          </a:p>
        </p:txBody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8997B3E4-4884-458B-8FBF-777EE75073E1}"/>
              </a:ext>
            </a:extLst>
          </p:cNvPr>
          <p:cNvSpPr/>
          <p:nvPr/>
        </p:nvSpPr>
        <p:spPr>
          <a:xfrm>
            <a:off x="548260" y="4915870"/>
            <a:ext cx="4766124" cy="1612080"/>
          </a:xfrm>
          <a:prstGeom prst="roundRect">
            <a:avLst/>
          </a:prstGeom>
          <a:solidFill>
            <a:srgbClr val="EAF6FF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435EDF33-5DBC-4BEA-BA4A-41E7BF16CA12}"/>
              </a:ext>
            </a:extLst>
          </p:cNvPr>
          <p:cNvSpPr/>
          <p:nvPr/>
        </p:nvSpPr>
        <p:spPr>
          <a:xfrm>
            <a:off x="731140" y="5057933"/>
            <a:ext cx="4342468" cy="5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Установить Decai</a:t>
            </a:r>
            <a:endParaRPr lang="en-US" sz="160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3787C0FD-A3C0-49CE-AB55-2F661F3CD431}"/>
              </a:ext>
            </a:extLst>
          </p:cNvPr>
          <p:cNvSpPr/>
          <p:nvPr/>
        </p:nvSpPr>
        <p:spPr>
          <a:xfrm>
            <a:off x="731140" y="5399607"/>
            <a:ext cx="4342468" cy="8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.\r2pm.exe -ci decai</a:t>
            </a:r>
            <a:endParaRPr lang="en-US" sz="1600" dirty="0"/>
          </a:p>
        </p:txBody>
      </p:sp>
      <p:sp>
        <p:nvSpPr>
          <p:cNvPr id="19" name="Shape 12">
            <a:extLst>
              <a:ext uri="{FF2B5EF4-FFF2-40B4-BE49-F238E27FC236}">
                <a16:creationId xmlns:a16="http://schemas.microsoft.com/office/drawing/2014/main" id="{B9D3DC8A-8047-42F2-8D40-538EF361A96B}"/>
              </a:ext>
            </a:extLst>
          </p:cNvPr>
          <p:cNvSpPr/>
          <p:nvPr/>
        </p:nvSpPr>
        <p:spPr>
          <a:xfrm>
            <a:off x="6257754" y="1453132"/>
            <a:ext cx="5096045" cy="1612080"/>
          </a:xfrm>
          <a:prstGeom prst="roundRect">
            <a:avLst/>
          </a:prstGeom>
          <a:solidFill>
            <a:srgbClr val="F0FFF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30EDB4FE-2417-4594-B1C4-CA854A6C2EF9}"/>
              </a:ext>
            </a:extLst>
          </p:cNvPr>
          <p:cNvSpPr/>
          <p:nvPr/>
        </p:nvSpPr>
        <p:spPr>
          <a:xfrm>
            <a:off x="6484243" y="1678978"/>
            <a:ext cx="4643063" cy="5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Установить Ollama</a:t>
            </a:r>
            <a:endParaRPr lang="en-US" sz="1600" dirty="0"/>
          </a:p>
        </p:txBody>
      </p:sp>
      <p:sp>
        <p:nvSpPr>
          <p:cNvPr id="21" name="Text 14">
            <a:extLst>
              <a:ext uri="{FF2B5EF4-FFF2-40B4-BE49-F238E27FC236}">
                <a16:creationId xmlns:a16="http://schemas.microsoft.com/office/drawing/2014/main" id="{9DABB3F8-6CB5-4D1A-A60B-3374559E74EE}"/>
              </a:ext>
            </a:extLst>
          </p:cNvPr>
          <p:cNvSpPr/>
          <p:nvPr/>
        </p:nvSpPr>
        <p:spPr>
          <a:xfrm>
            <a:off x="6450752" y="2051830"/>
            <a:ext cx="4643063" cy="8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ollama.com/download → OllamaSetup.exe</a:t>
            </a:r>
            <a:endParaRPr lang="en-US" sz="1600" dirty="0"/>
          </a:p>
        </p:txBody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6FE9D01C-023C-4EA3-B57C-30D01075554C}"/>
              </a:ext>
            </a:extLst>
          </p:cNvPr>
          <p:cNvSpPr/>
          <p:nvPr/>
        </p:nvSpPr>
        <p:spPr>
          <a:xfrm>
            <a:off x="6257753" y="3212584"/>
            <a:ext cx="5096045" cy="1612080"/>
          </a:xfrm>
          <a:prstGeom prst="roundRect">
            <a:avLst/>
          </a:prstGeom>
          <a:solidFill>
            <a:srgbClr val="FFF0F0"/>
          </a:solidFill>
          <a:ln w="19050">
            <a:solidFill>
              <a:srgbClr val="E05050"/>
            </a:solidFill>
            <a:prstDash val="solid"/>
          </a:ln>
        </p:spPr>
      </p:sp>
      <p:sp>
        <p:nvSpPr>
          <p:cNvPr id="23" name="Text 16">
            <a:extLst>
              <a:ext uri="{FF2B5EF4-FFF2-40B4-BE49-F238E27FC236}">
                <a16:creationId xmlns:a16="http://schemas.microsoft.com/office/drawing/2014/main" id="{52DCD5C7-04E6-4B26-9919-520A870BAD63}"/>
              </a:ext>
            </a:extLst>
          </p:cNvPr>
          <p:cNvSpPr/>
          <p:nvPr/>
        </p:nvSpPr>
        <p:spPr>
          <a:xfrm>
            <a:off x="6484243" y="3230938"/>
            <a:ext cx="4643063" cy="5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!. Проблема: rm</a:t>
            </a:r>
            <a:endParaRPr lang="en-US" sz="1600" dirty="0"/>
          </a:p>
        </p:txBody>
      </p:sp>
      <p:sp>
        <p:nvSpPr>
          <p:cNvPr id="24" name="Text 17">
            <a:extLst>
              <a:ext uri="{FF2B5EF4-FFF2-40B4-BE49-F238E27FC236}">
                <a16:creationId xmlns:a16="http://schemas.microsoft.com/office/drawing/2014/main" id="{73D21EE6-DECD-4EBB-894E-1711C386698F}"/>
              </a:ext>
            </a:extLst>
          </p:cNvPr>
          <p:cNvSpPr/>
          <p:nvPr/>
        </p:nvSpPr>
        <p:spPr>
          <a:xfrm>
            <a:off x="6450751" y="3587020"/>
            <a:ext cx="4643063" cy="8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Decai использует Unix-команду rm — не работает в Windows</a:t>
            </a:r>
            <a:endParaRPr lang="en-US" sz="1600" dirty="0"/>
          </a:p>
        </p:txBody>
      </p:sp>
      <p:sp>
        <p:nvSpPr>
          <p:cNvPr id="25" name="Shape 18">
            <a:extLst>
              <a:ext uri="{FF2B5EF4-FFF2-40B4-BE49-F238E27FC236}">
                <a16:creationId xmlns:a16="http://schemas.microsoft.com/office/drawing/2014/main" id="{78B14650-F565-4AE3-9F46-DAF4AF4F2622}"/>
              </a:ext>
            </a:extLst>
          </p:cNvPr>
          <p:cNvSpPr/>
          <p:nvPr/>
        </p:nvSpPr>
        <p:spPr>
          <a:xfrm>
            <a:off x="6257753" y="4915870"/>
            <a:ext cx="5096045" cy="1612080"/>
          </a:xfrm>
          <a:prstGeom prst="roundRect">
            <a:avLst/>
          </a:prstGeom>
          <a:solidFill>
            <a:srgbClr val="F0FFF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B042CB39-1281-40FE-9698-8B6D63608CFD}"/>
              </a:ext>
            </a:extLst>
          </p:cNvPr>
          <p:cNvSpPr/>
          <p:nvPr/>
        </p:nvSpPr>
        <p:spPr>
          <a:xfrm>
            <a:off x="6462437" y="4192924"/>
            <a:ext cx="4643063" cy="5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✓. Решение</a:t>
            </a:r>
            <a:endParaRPr lang="en-US" sz="1600" dirty="0"/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913774D5-EB34-41F4-B00C-6D66D1586F9B}"/>
              </a:ext>
            </a:extLst>
          </p:cNvPr>
          <p:cNvSpPr/>
          <p:nvPr/>
        </p:nvSpPr>
        <p:spPr>
          <a:xfrm>
            <a:off x="6440633" y="5282698"/>
            <a:ext cx="4643063" cy="8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вызов curl.exe с временным файлом запроса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289448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B1BB77-6F80-9B3A-1D88-CC296E7A9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831"/>
            <a:ext cx="10515600" cy="132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Анализируемая</a:t>
            </a:r>
            <a:r>
              <a:rPr lang="en-US" sz="3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6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</a:t>
            </a:r>
            <a:endParaRPr lang="en-US" sz="36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949D02F-ACDA-EF6F-F816-24FACD10A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1915" y="6329190"/>
            <a:ext cx="2743200" cy="365125"/>
          </a:xfrm>
        </p:spPr>
        <p:txBody>
          <a:bodyPr/>
          <a:lstStyle/>
          <a:p>
            <a:fld id="{A93D2B9D-3E5A-4208-B841-6DCB29E9E020}" type="slidenum">
              <a:rPr lang="ru-RU" smtClean="0"/>
              <a:t>6</a:t>
            </a:fld>
            <a:endParaRPr lang="ru-RU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D8B22377-22D7-44CF-B567-7A0A1CF17B4A}"/>
              </a:ext>
            </a:extLst>
          </p:cNvPr>
          <p:cNvSpPr/>
          <p:nvPr/>
        </p:nvSpPr>
        <p:spPr>
          <a:xfrm>
            <a:off x="423864" y="2000084"/>
            <a:ext cx="2170130" cy="2200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EGOR.exe — перевод радиан в градусы, минуты, секунды</a:t>
            </a:r>
            <a:endParaRPr lang="en-US" sz="1200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9480966F-AAD7-43F2-908D-4AA8B7E1C9AE}"/>
              </a:ext>
            </a:extLst>
          </p:cNvPr>
          <p:cNvSpPr/>
          <p:nvPr/>
        </p:nvSpPr>
        <p:spPr>
          <a:xfrm>
            <a:off x="8918418" y="1382068"/>
            <a:ext cx="3684760" cy="399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программы</a:t>
            </a:r>
            <a:endParaRPr lang="en-US" sz="1300" dirty="0"/>
          </a:p>
        </p:txBody>
      </p:sp>
      <p:sp>
        <p:nvSpPr>
          <p:cNvPr id="14" name="Shape 7">
            <a:extLst>
              <a:ext uri="{FF2B5EF4-FFF2-40B4-BE49-F238E27FC236}">
                <a16:creationId xmlns:a16="http://schemas.microsoft.com/office/drawing/2014/main" id="{B5405860-9CDC-439C-B24B-77BBA29071B7}"/>
              </a:ext>
            </a:extLst>
          </p:cNvPr>
          <p:cNvSpPr/>
          <p:nvPr/>
        </p:nvSpPr>
        <p:spPr>
          <a:xfrm>
            <a:off x="7949559" y="1972652"/>
            <a:ext cx="3684760" cy="707952"/>
          </a:xfrm>
          <a:prstGeom prst="roundRect">
            <a:avLst/>
          </a:prstGeom>
          <a:solidFill>
            <a:srgbClr val="EAF6FF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1573FB22-1DD6-4F4E-9E15-CB2625E60C21}"/>
              </a:ext>
            </a:extLst>
          </p:cNvPr>
          <p:cNvSpPr/>
          <p:nvPr/>
        </p:nvSpPr>
        <p:spPr>
          <a:xfrm>
            <a:off x="8040999" y="2000084"/>
            <a:ext cx="1551478" cy="319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34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fun_scan()</a:t>
            </a:r>
            <a:endParaRPr lang="en-US" sz="1200" dirty="0"/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08F4B4F5-7F2C-4466-8BB4-D89AB7E23274}"/>
              </a:ext>
            </a:extLst>
          </p:cNvPr>
          <p:cNvSpPr/>
          <p:nvPr/>
        </p:nvSpPr>
        <p:spPr>
          <a:xfrm>
            <a:off x="8040998" y="2256115"/>
            <a:ext cx="3490825" cy="2854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Чтение угла с клавиатуры</a:t>
            </a:r>
            <a:endParaRPr lang="en-US" sz="1100" dirty="0"/>
          </a:p>
        </p:txBody>
      </p:sp>
      <p:sp>
        <p:nvSpPr>
          <p:cNvPr id="18" name="Shape 10">
            <a:extLst>
              <a:ext uri="{FF2B5EF4-FFF2-40B4-BE49-F238E27FC236}">
                <a16:creationId xmlns:a16="http://schemas.microsoft.com/office/drawing/2014/main" id="{8C613A78-C49C-406C-996D-76FBD0CD57FD}"/>
              </a:ext>
            </a:extLst>
          </p:cNvPr>
          <p:cNvSpPr/>
          <p:nvPr/>
        </p:nvSpPr>
        <p:spPr>
          <a:xfrm>
            <a:off x="7955088" y="2810066"/>
            <a:ext cx="3684760" cy="707952"/>
          </a:xfrm>
          <a:prstGeom prst="roundRect">
            <a:avLst/>
          </a:prstGeom>
          <a:solidFill>
            <a:srgbClr val="F0FFF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FFB3A270-4DA9-406E-A828-E4DA4C4664EA}"/>
              </a:ext>
            </a:extLst>
          </p:cNvPr>
          <p:cNvSpPr/>
          <p:nvPr/>
        </p:nvSpPr>
        <p:spPr>
          <a:xfrm>
            <a:off x="8046528" y="2837498"/>
            <a:ext cx="1551478" cy="319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34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fun_degrees()</a:t>
            </a:r>
            <a:endParaRPr lang="en-US" sz="1200" dirty="0"/>
          </a:p>
        </p:txBody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7137BE1E-1FB3-456B-A496-9D442F6E7C4E}"/>
              </a:ext>
            </a:extLst>
          </p:cNvPr>
          <p:cNvSpPr/>
          <p:nvPr/>
        </p:nvSpPr>
        <p:spPr>
          <a:xfrm>
            <a:off x="8046527" y="3093529"/>
            <a:ext cx="3490825" cy="2854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Перевод в градусы</a:t>
            </a:r>
            <a:endParaRPr lang="en-US" sz="1100" dirty="0"/>
          </a:p>
        </p:txBody>
      </p:sp>
      <p:sp>
        <p:nvSpPr>
          <p:cNvPr id="21" name="Shape 13">
            <a:extLst>
              <a:ext uri="{FF2B5EF4-FFF2-40B4-BE49-F238E27FC236}">
                <a16:creationId xmlns:a16="http://schemas.microsoft.com/office/drawing/2014/main" id="{C7EBD504-A294-4D5C-BBF9-DBD745297D82}"/>
              </a:ext>
            </a:extLst>
          </p:cNvPr>
          <p:cNvSpPr/>
          <p:nvPr/>
        </p:nvSpPr>
        <p:spPr>
          <a:xfrm>
            <a:off x="7955088" y="3713931"/>
            <a:ext cx="3684760" cy="707952"/>
          </a:xfrm>
          <a:prstGeom prst="roundRect">
            <a:avLst/>
          </a:prstGeom>
          <a:solidFill>
            <a:srgbClr val="EAF6FF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011B96F2-CD33-42B2-A8FD-088342C36F22}"/>
              </a:ext>
            </a:extLst>
          </p:cNvPr>
          <p:cNvSpPr/>
          <p:nvPr/>
        </p:nvSpPr>
        <p:spPr>
          <a:xfrm>
            <a:off x="8046528" y="3741363"/>
            <a:ext cx="1551478" cy="319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34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fun_minutes()</a:t>
            </a:r>
            <a:endParaRPr lang="en-US" sz="1200" dirty="0"/>
          </a:p>
        </p:txBody>
      </p:sp>
      <p:sp>
        <p:nvSpPr>
          <p:cNvPr id="23" name="Text 15">
            <a:extLst>
              <a:ext uri="{FF2B5EF4-FFF2-40B4-BE49-F238E27FC236}">
                <a16:creationId xmlns:a16="http://schemas.microsoft.com/office/drawing/2014/main" id="{BD47CFC3-5FA1-435C-9FB1-0FEE81C7EA56}"/>
              </a:ext>
            </a:extLst>
          </p:cNvPr>
          <p:cNvSpPr/>
          <p:nvPr/>
        </p:nvSpPr>
        <p:spPr>
          <a:xfrm>
            <a:off x="8046527" y="3997394"/>
            <a:ext cx="3490825" cy="2854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Перевод в минуты</a:t>
            </a:r>
            <a:endParaRPr lang="en-US" sz="1100" dirty="0"/>
          </a:p>
        </p:txBody>
      </p:sp>
      <p:sp>
        <p:nvSpPr>
          <p:cNvPr id="24" name="Shape 16">
            <a:extLst>
              <a:ext uri="{FF2B5EF4-FFF2-40B4-BE49-F238E27FC236}">
                <a16:creationId xmlns:a16="http://schemas.microsoft.com/office/drawing/2014/main" id="{687427E8-73DA-4BD4-AC71-806A8A65AA41}"/>
              </a:ext>
            </a:extLst>
          </p:cNvPr>
          <p:cNvSpPr/>
          <p:nvPr/>
        </p:nvSpPr>
        <p:spPr>
          <a:xfrm>
            <a:off x="7955088" y="4591024"/>
            <a:ext cx="3684760" cy="707952"/>
          </a:xfrm>
          <a:prstGeom prst="roundRect">
            <a:avLst/>
          </a:prstGeom>
          <a:solidFill>
            <a:srgbClr val="F0FFF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Text 17">
            <a:extLst>
              <a:ext uri="{FF2B5EF4-FFF2-40B4-BE49-F238E27FC236}">
                <a16:creationId xmlns:a16="http://schemas.microsoft.com/office/drawing/2014/main" id="{926C3178-6251-4366-A51D-0B6C24C3B61C}"/>
              </a:ext>
            </a:extLst>
          </p:cNvPr>
          <p:cNvSpPr/>
          <p:nvPr/>
        </p:nvSpPr>
        <p:spPr>
          <a:xfrm>
            <a:off x="8046528" y="4618456"/>
            <a:ext cx="1551478" cy="319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34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fun_seconds()</a:t>
            </a:r>
            <a:endParaRPr lang="en-US" sz="1200" dirty="0"/>
          </a:p>
        </p:txBody>
      </p:sp>
      <p:sp>
        <p:nvSpPr>
          <p:cNvPr id="26" name="Text 18">
            <a:extLst>
              <a:ext uri="{FF2B5EF4-FFF2-40B4-BE49-F238E27FC236}">
                <a16:creationId xmlns:a16="http://schemas.microsoft.com/office/drawing/2014/main" id="{0F99650E-D301-4715-AB38-BE253F9F0271}"/>
              </a:ext>
            </a:extLst>
          </p:cNvPr>
          <p:cNvSpPr/>
          <p:nvPr/>
        </p:nvSpPr>
        <p:spPr>
          <a:xfrm>
            <a:off x="8046527" y="4874487"/>
            <a:ext cx="3490825" cy="2854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Перевод в секунды</a:t>
            </a:r>
            <a:endParaRPr lang="en-US" sz="1100" dirty="0"/>
          </a:p>
        </p:txBody>
      </p:sp>
      <p:sp>
        <p:nvSpPr>
          <p:cNvPr id="27" name="Shape 19">
            <a:extLst>
              <a:ext uri="{FF2B5EF4-FFF2-40B4-BE49-F238E27FC236}">
                <a16:creationId xmlns:a16="http://schemas.microsoft.com/office/drawing/2014/main" id="{947BA4D2-7CD9-4B94-B3A7-46FC9B3AC872}"/>
              </a:ext>
            </a:extLst>
          </p:cNvPr>
          <p:cNvSpPr/>
          <p:nvPr/>
        </p:nvSpPr>
        <p:spPr>
          <a:xfrm>
            <a:off x="7955088" y="5455870"/>
            <a:ext cx="3684760" cy="707952"/>
          </a:xfrm>
          <a:prstGeom prst="roundRect">
            <a:avLst/>
          </a:prstGeom>
          <a:solidFill>
            <a:srgbClr val="EAF6FF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8" name="Text 20">
            <a:extLst>
              <a:ext uri="{FF2B5EF4-FFF2-40B4-BE49-F238E27FC236}">
                <a16:creationId xmlns:a16="http://schemas.microsoft.com/office/drawing/2014/main" id="{E22AB6B3-0C97-4240-BD8F-5F4EAC69B337}"/>
              </a:ext>
            </a:extLst>
          </p:cNvPr>
          <p:cNvSpPr/>
          <p:nvPr/>
        </p:nvSpPr>
        <p:spPr>
          <a:xfrm>
            <a:off x="8306745" y="5455870"/>
            <a:ext cx="1551478" cy="319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34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main()</a:t>
            </a:r>
            <a:endParaRPr lang="en-US" sz="1200" dirty="0"/>
          </a:p>
        </p:txBody>
      </p:sp>
      <p:sp>
        <p:nvSpPr>
          <p:cNvPr id="29" name="Text 21">
            <a:extLst>
              <a:ext uri="{FF2B5EF4-FFF2-40B4-BE49-F238E27FC236}">
                <a16:creationId xmlns:a16="http://schemas.microsoft.com/office/drawing/2014/main" id="{8037AD76-0576-471C-85E2-156B79FD4234}"/>
              </a:ext>
            </a:extLst>
          </p:cNvPr>
          <p:cNvSpPr/>
          <p:nvPr/>
        </p:nvSpPr>
        <p:spPr>
          <a:xfrm>
            <a:off x="8149023" y="5705443"/>
            <a:ext cx="3490825" cy="2854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результатов</a:t>
            </a:r>
            <a:endParaRPr 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0FE7B28-C986-4C03-876F-6C5DB8A3D771}"/>
              </a:ext>
            </a:extLst>
          </p:cNvPr>
          <p:cNvSpPr txBox="1"/>
          <p:nvPr/>
        </p:nvSpPr>
        <p:spPr>
          <a:xfrm>
            <a:off x="269956" y="2356914"/>
            <a:ext cx="63012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Исходный</a:t>
            </a:r>
            <a:r>
              <a:rPr lang="en-US" sz="1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 err="1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</a:t>
            </a:r>
            <a:r>
              <a:rPr lang="en-US" sz="1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(C++)</a:t>
            </a:r>
            <a:endParaRPr lang="en-US" sz="18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94D6401-D7D6-4015-B294-748E993EDE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2471" y="1248302"/>
            <a:ext cx="4081660" cy="5493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078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3B1177DB-0E82-4FAD-B22E-7BB4E6189E19}"/>
              </a:ext>
            </a:extLst>
          </p:cNvPr>
          <p:cNvSpPr txBox="1"/>
          <p:nvPr/>
        </p:nvSpPr>
        <p:spPr>
          <a:xfrm>
            <a:off x="591645" y="331381"/>
            <a:ext cx="60975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0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</a:t>
            </a: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в Radare2</a:t>
            </a:r>
            <a:endParaRPr lang="en-US" sz="2000" dirty="0"/>
          </a:p>
        </p:txBody>
      </p:sp>
      <p:sp>
        <p:nvSpPr>
          <p:cNvPr id="29" name="Text 2">
            <a:extLst>
              <a:ext uri="{FF2B5EF4-FFF2-40B4-BE49-F238E27FC236}">
                <a16:creationId xmlns:a16="http://schemas.microsoft.com/office/drawing/2014/main" id="{50FF5C80-5375-43B6-A4B4-910F355FA38F}"/>
              </a:ext>
            </a:extLst>
          </p:cNvPr>
          <p:cNvSpPr/>
          <p:nvPr/>
        </p:nvSpPr>
        <p:spPr>
          <a:xfrm>
            <a:off x="292881" y="1469837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Команды и результат автоанализа</a:t>
            </a:r>
            <a:endParaRPr lang="en-US" sz="1400" b="1" dirty="0"/>
          </a:p>
        </p:txBody>
      </p:sp>
      <p:sp>
        <p:nvSpPr>
          <p:cNvPr id="30" name="Shape 4">
            <a:extLst>
              <a:ext uri="{FF2B5EF4-FFF2-40B4-BE49-F238E27FC236}">
                <a16:creationId xmlns:a16="http://schemas.microsoft.com/office/drawing/2014/main" id="{A54D9FC2-D1E5-489A-BD8D-E56136A5355F}"/>
              </a:ext>
            </a:extLst>
          </p:cNvPr>
          <p:cNvSpPr/>
          <p:nvPr/>
        </p:nvSpPr>
        <p:spPr>
          <a:xfrm>
            <a:off x="134155" y="1963544"/>
            <a:ext cx="2475052" cy="413367"/>
          </a:xfrm>
          <a:prstGeom prst="rect">
            <a:avLst/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929C1636-E942-4645-A62E-117A52F6E742}"/>
              </a:ext>
            </a:extLst>
          </p:cNvPr>
          <p:cNvSpPr/>
          <p:nvPr/>
        </p:nvSpPr>
        <p:spPr>
          <a:xfrm>
            <a:off x="179875" y="1981832"/>
            <a:ext cx="2386658" cy="3739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.\radare2.exe C:\EGOR.exe</a:t>
            </a:r>
            <a:endParaRPr lang="en-US" sz="1000" dirty="0"/>
          </a:p>
        </p:txBody>
      </p:sp>
      <p:sp>
        <p:nvSpPr>
          <p:cNvPr id="32" name="Text 6">
            <a:extLst>
              <a:ext uri="{FF2B5EF4-FFF2-40B4-BE49-F238E27FC236}">
                <a16:creationId xmlns:a16="http://schemas.microsoft.com/office/drawing/2014/main" id="{E3B41564-BAF3-4DC5-A5C1-5B0087B92DD9}"/>
              </a:ext>
            </a:extLst>
          </p:cNvPr>
          <p:cNvSpPr/>
          <p:nvPr/>
        </p:nvSpPr>
        <p:spPr>
          <a:xfrm>
            <a:off x="2785915" y="1981832"/>
            <a:ext cx="1944684" cy="3739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Открыть файл</a:t>
            </a:r>
            <a:endParaRPr lang="en-US" sz="1100" dirty="0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4626B758-3C23-4D6A-BF41-EADBB287B28F}"/>
              </a:ext>
            </a:extLst>
          </p:cNvPr>
          <p:cNvSpPr/>
          <p:nvPr/>
        </p:nvSpPr>
        <p:spPr>
          <a:xfrm>
            <a:off x="134155" y="2508102"/>
            <a:ext cx="2475052" cy="413367"/>
          </a:xfrm>
          <a:prstGeom prst="rect">
            <a:avLst/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23EE3F42-3C71-4C64-ACAC-5F966356EFEA}"/>
              </a:ext>
            </a:extLst>
          </p:cNvPr>
          <p:cNvSpPr/>
          <p:nvPr/>
        </p:nvSpPr>
        <p:spPr>
          <a:xfrm>
            <a:off x="179875" y="2526390"/>
            <a:ext cx="2386658" cy="3739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</a:t>
            </a:r>
            <a:endParaRPr lang="en-US" sz="10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8EF04592-5590-4218-BC1F-D05452938515}"/>
              </a:ext>
            </a:extLst>
          </p:cNvPr>
          <p:cNvSpPr/>
          <p:nvPr/>
        </p:nvSpPr>
        <p:spPr>
          <a:xfrm>
            <a:off x="2785914" y="2526390"/>
            <a:ext cx="2379251" cy="3739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Автоанализ (функции, символы)</a:t>
            </a:r>
            <a:endParaRPr lang="en-US" sz="1100" dirty="0"/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F2474C93-729E-4B99-9021-BD1D6D07D9D6}"/>
              </a:ext>
            </a:extLst>
          </p:cNvPr>
          <p:cNvSpPr/>
          <p:nvPr/>
        </p:nvSpPr>
        <p:spPr>
          <a:xfrm>
            <a:off x="107771" y="3065506"/>
            <a:ext cx="2475052" cy="413367"/>
          </a:xfrm>
          <a:prstGeom prst="rect">
            <a:avLst/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11">
            <a:extLst>
              <a:ext uri="{FF2B5EF4-FFF2-40B4-BE49-F238E27FC236}">
                <a16:creationId xmlns:a16="http://schemas.microsoft.com/office/drawing/2014/main" id="{022B8B25-6CAA-4B0E-A6C4-83297F98D9E2}"/>
              </a:ext>
            </a:extLst>
          </p:cNvPr>
          <p:cNvSpPr/>
          <p:nvPr/>
        </p:nvSpPr>
        <p:spPr>
          <a:xfrm>
            <a:off x="153491" y="3083794"/>
            <a:ext cx="2386658" cy="3739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afl</a:t>
            </a:r>
            <a:endParaRPr lang="en-US" sz="1000" dirty="0"/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B7EDD248-709A-46C0-9DC5-B617CD6C5224}"/>
              </a:ext>
            </a:extLst>
          </p:cNvPr>
          <p:cNvSpPr/>
          <p:nvPr/>
        </p:nvSpPr>
        <p:spPr>
          <a:xfrm>
            <a:off x="2759530" y="3083794"/>
            <a:ext cx="2062379" cy="3739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Список найденных функций</a:t>
            </a:r>
            <a:endParaRPr lang="en-US" sz="1100" dirty="0"/>
          </a:p>
        </p:txBody>
      </p:sp>
      <p:sp>
        <p:nvSpPr>
          <p:cNvPr id="39" name="Shape 13">
            <a:extLst>
              <a:ext uri="{FF2B5EF4-FFF2-40B4-BE49-F238E27FC236}">
                <a16:creationId xmlns:a16="http://schemas.microsoft.com/office/drawing/2014/main" id="{11D7796E-59E4-4915-BB88-2C6BBED8C25E}"/>
              </a:ext>
            </a:extLst>
          </p:cNvPr>
          <p:cNvSpPr/>
          <p:nvPr/>
        </p:nvSpPr>
        <p:spPr>
          <a:xfrm>
            <a:off x="95258" y="3613315"/>
            <a:ext cx="2475052" cy="413367"/>
          </a:xfrm>
          <a:prstGeom prst="rect">
            <a:avLst/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43EC93A1-CC65-49AB-8623-F3E8B3ED4A25}"/>
              </a:ext>
            </a:extLst>
          </p:cNvPr>
          <p:cNvSpPr/>
          <p:nvPr/>
        </p:nvSpPr>
        <p:spPr>
          <a:xfrm>
            <a:off x="140978" y="3631603"/>
            <a:ext cx="2386658" cy="3739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fcn.140012490</a:t>
            </a:r>
            <a:endParaRPr lang="en-US" sz="1000" dirty="0"/>
          </a:p>
        </p:txBody>
      </p:sp>
      <p:sp>
        <p:nvSpPr>
          <p:cNvPr id="41" name="Text 15">
            <a:extLst>
              <a:ext uri="{FF2B5EF4-FFF2-40B4-BE49-F238E27FC236}">
                <a16:creationId xmlns:a16="http://schemas.microsoft.com/office/drawing/2014/main" id="{D4702867-13A7-4FDA-A495-75C93233CF6F}"/>
              </a:ext>
            </a:extLst>
          </p:cNvPr>
          <p:cNvSpPr/>
          <p:nvPr/>
        </p:nvSpPr>
        <p:spPr>
          <a:xfrm>
            <a:off x="2747018" y="3631603"/>
            <a:ext cx="1944684" cy="3739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Перейти к main</a:t>
            </a:r>
            <a:endParaRPr lang="en-US" sz="1100" dirty="0"/>
          </a:p>
        </p:txBody>
      </p:sp>
      <p:sp>
        <p:nvSpPr>
          <p:cNvPr id="42" name="Shape 16">
            <a:extLst>
              <a:ext uri="{FF2B5EF4-FFF2-40B4-BE49-F238E27FC236}">
                <a16:creationId xmlns:a16="http://schemas.microsoft.com/office/drawing/2014/main" id="{CC70DEDD-7BAB-4B37-9B84-EBE1BA28FF7E}"/>
              </a:ext>
            </a:extLst>
          </p:cNvPr>
          <p:cNvSpPr/>
          <p:nvPr/>
        </p:nvSpPr>
        <p:spPr>
          <a:xfrm>
            <a:off x="95258" y="4174452"/>
            <a:ext cx="2475052" cy="413367"/>
          </a:xfrm>
          <a:prstGeom prst="rect">
            <a:avLst/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3" name="Text 17">
            <a:extLst>
              <a:ext uri="{FF2B5EF4-FFF2-40B4-BE49-F238E27FC236}">
                <a16:creationId xmlns:a16="http://schemas.microsoft.com/office/drawing/2014/main" id="{5BD85552-8D26-4A7A-8130-A98BE8C60C81}"/>
              </a:ext>
            </a:extLst>
          </p:cNvPr>
          <p:cNvSpPr/>
          <p:nvPr/>
        </p:nvSpPr>
        <p:spPr>
          <a:xfrm>
            <a:off x="140978" y="4192740"/>
            <a:ext cx="2386658" cy="3739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decai -e api=ollama</a:t>
            </a:r>
            <a:endParaRPr lang="en-US" sz="1000" dirty="0"/>
          </a:p>
        </p:txBody>
      </p:sp>
      <p:sp>
        <p:nvSpPr>
          <p:cNvPr id="44" name="Text 18">
            <a:extLst>
              <a:ext uri="{FF2B5EF4-FFF2-40B4-BE49-F238E27FC236}">
                <a16:creationId xmlns:a16="http://schemas.microsoft.com/office/drawing/2014/main" id="{CC403F7C-67F5-43D1-9D4F-C8D14245DD28}"/>
              </a:ext>
            </a:extLst>
          </p:cNvPr>
          <p:cNvSpPr/>
          <p:nvPr/>
        </p:nvSpPr>
        <p:spPr>
          <a:xfrm>
            <a:off x="2747018" y="4192740"/>
            <a:ext cx="1944684" cy="3739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Выбрать AI-бэкенд</a:t>
            </a:r>
            <a:endParaRPr lang="en-US" sz="1100" dirty="0"/>
          </a:p>
        </p:txBody>
      </p:sp>
      <p:sp>
        <p:nvSpPr>
          <p:cNvPr id="45" name="Shape 19">
            <a:extLst>
              <a:ext uri="{FF2B5EF4-FFF2-40B4-BE49-F238E27FC236}">
                <a16:creationId xmlns:a16="http://schemas.microsoft.com/office/drawing/2014/main" id="{8C2B6AA8-D94E-4944-8932-EF19C30B5FFC}"/>
              </a:ext>
            </a:extLst>
          </p:cNvPr>
          <p:cNvSpPr/>
          <p:nvPr/>
        </p:nvSpPr>
        <p:spPr>
          <a:xfrm>
            <a:off x="95258" y="4776489"/>
            <a:ext cx="2475052" cy="413367"/>
          </a:xfrm>
          <a:prstGeom prst="rect">
            <a:avLst/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20">
            <a:extLst>
              <a:ext uri="{FF2B5EF4-FFF2-40B4-BE49-F238E27FC236}">
                <a16:creationId xmlns:a16="http://schemas.microsoft.com/office/drawing/2014/main" id="{B37171DF-E30D-42B0-945F-7B643D834F7B}"/>
              </a:ext>
            </a:extLst>
          </p:cNvPr>
          <p:cNvSpPr/>
          <p:nvPr/>
        </p:nvSpPr>
        <p:spPr>
          <a:xfrm>
            <a:off x="140978" y="4794777"/>
            <a:ext cx="2386658" cy="3739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decai -e model=qwen2.5-coder:3b</a:t>
            </a:r>
            <a:endParaRPr lang="en-US" sz="1000" dirty="0"/>
          </a:p>
        </p:txBody>
      </p:sp>
      <p:sp>
        <p:nvSpPr>
          <p:cNvPr id="47" name="Text 21">
            <a:extLst>
              <a:ext uri="{FF2B5EF4-FFF2-40B4-BE49-F238E27FC236}">
                <a16:creationId xmlns:a16="http://schemas.microsoft.com/office/drawing/2014/main" id="{DFB7900F-347F-4932-A7F7-C6D97AC73F59}"/>
              </a:ext>
            </a:extLst>
          </p:cNvPr>
          <p:cNvSpPr/>
          <p:nvPr/>
        </p:nvSpPr>
        <p:spPr>
          <a:xfrm>
            <a:off x="2747018" y="4794777"/>
            <a:ext cx="1944684" cy="3739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Выбрать модель</a:t>
            </a:r>
            <a:endParaRPr lang="en-US" sz="1100" dirty="0"/>
          </a:p>
        </p:txBody>
      </p:sp>
      <p:sp>
        <p:nvSpPr>
          <p:cNvPr id="48" name="Shape 22">
            <a:extLst>
              <a:ext uri="{FF2B5EF4-FFF2-40B4-BE49-F238E27FC236}">
                <a16:creationId xmlns:a16="http://schemas.microsoft.com/office/drawing/2014/main" id="{5B60711A-7387-42EE-BBE0-1879DC9025D2}"/>
              </a:ext>
            </a:extLst>
          </p:cNvPr>
          <p:cNvSpPr/>
          <p:nvPr/>
        </p:nvSpPr>
        <p:spPr>
          <a:xfrm>
            <a:off x="95258" y="5388163"/>
            <a:ext cx="2475052" cy="413367"/>
          </a:xfrm>
          <a:prstGeom prst="rect">
            <a:avLst/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9" name="Text 23">
            <a:extLst>
              <a:ext uri="{FF2B5EF4-FFF2-40B4-BE49-F238E27FC236}">
                <a16:creationId xmlns:a16="http://schemas.microsoft.com/office/drawing/2014/main" id="{32D4DE82-CF42-4732-9DA8-48EE61109DB7}"/>
              </a:ext>
            </a:extLst>
          </p:cNvPr>
          <p:cNvSpPr/>
          <p:nvPr/>
        </p:nvSpPr>
        <p:spPr>
          <a:xfrm>
            <a:off x="140978" y="5406451"/>
            <a:ext cx="2386658" cy="3739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decai -d</a:t>
            </a:r>
            <a:endParaRPr lang="en-US" sz="1000" dirty="0"/>
          </a:p>
        </p:txBody>
      </p:sp>
      <p:sp>
        <p:nvSpPr>
          <p:cNvPr id="50" name="Text 24">
            <a:extLst>
              <a:ext uri="{FF2B5EF4-FFF2-40B4-BE49-F238E27FC236}">
                <a16:creationId xmlns:a16="http://schemas.microsoft.com/office/drawing/2014/main" id="{C7ACCD2C-E38C-47AA-AC67-252848BD488F}"/>
              </a:ext>
            </a:extLst>
          </p:cNvPr>
          <p:cNvSpPr/>
          <p:nvPr/>
        </p:nvSpPr>
        <p:spPr>
          <a:xfrm>
            <a:off x="2747018" y="5406451"/>
            <a:ext cx="1944684" cy="3739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Запустить декомпиляцию</a:t>
            </a:r>
            <a:endParaRPr lang="en-US" sz="1100" dirty="0"/>
          </a:p>
        </p:txBody>
      </p:sp>
      <p:sp>
        <p:nvSpPr>
          <p:cNvPr id="51" name="Text 25">
            <a:extLst>
              <a:ext uri="{FF2B5EF4-FFF2-40B4-BE49-F238E27FC236}">
                <a16:creationId xmlns:a16="http://schemas.microsoft.com/office/drawing/2014/main" id="{98887362-0A25-4B9C-8718-A84AC9CA7121}"/>
              </a:ext>
            </a:extLst>
          </p:cNvPr>
          <p:cNvSpPr/>
          <p:nvPr/>
        </p:nvSpPr>
        <p:spPr>
          <a:xfrm>
            <a:off x="6658737" y="139305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Скриншот: вывод команды afl</a:t>
            </a:r>
            <a:endParaRPr lang="en-US" sz="1400" dirty="0"/>
          </a:p>
        </p:txBody>
      </p:sp>
      <p:sp>
        <p:nvSpPr>
          <p:cNvPr id="52" name="Text 26">
            <a:extLst>
              <a:ext uri="{FF2B5EF4-FFF2-40B4-BE49-F238E27FC236}">
                <a16:creationId xmlns:a16="http://schemas.microsoft.com/office/drawing/2014/main" id="{72577A9B-2B9F-494F-A490-19771DA0C17C}"/>
              </a:ext>
            </a:extLst>
          </p:cNvPr>
          <p:cNvSpPr/>
          <p:nvPr/>
        </p:nvSpPr>
        <p:spPr>
          <a:xfrm>
            <a:off x="6830841" y="5912094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 4 функции, главная — fcn.140012490 (367 байт, 21 базовый блок)</a:t>
            </a:r>
            <a:endParaRPr lang="en-US" sz="12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549798A-1BD2-4725-823C-BBD587B7F5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165" y="1963544"/>
            <a:ext cx="6919064" cy="3809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8419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DDB83984-150B-6FE3-1BB8-09A97230F8CB}"/>
              </a:ext>
            </a:extLst>
          </p:cNvPr>
          <p:cNvSpPr>
            <a:spLocks noGrp="1"/>
          </p:cNvSpPr>
          <p:nvPr/>
        </p:nvSpPr>
        <p:spPr>
          <a:xfrm>
            <a:off x="499766" y="11752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indent="0">
              <a:buNone/>
            </a:pPr>
            <a:r>
              <a:rPr lang="en-US" sz="36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Дизассемблер</a:t>
            </a:r>
            <a:r>
              <a:rPr lang="en-US" sz="3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6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функции</a:t>
            </a:r>
            <a:r>
              <a:rPr lang="en-US" sz="3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main</a:t>
            </a:r>
            <a:endParaRPr lang="en-US" sz="36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0EA1F0-360E-890B-F1DB-035802E0ED53}"/>
              </a:ext>
            </a:extLst>
          </p:cNvPr>
          <p:cNvSpPr>
            <a:spLocks noGrp="1"/>
          </p:cNvSpPr>
          <p:nvPr/>
        </p:nvSpPr>
        <p:spPr>
          <a:xfrm>
            <a:off x="8634305" y="62849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93D2B9D-3E5A-4208-B841-6DCB29E9E020}" type="slidenum">
              <a:rPr lang="ru-RU" smtClean="0"/>
              <a:pPr/>
              <a:t>8</a:t>
            </a:fld>
            <a:endParaRPr lang="ru-RU" dirty="0"/>
          </a:p>
        </p:txBody>
      </p:sp>
      <p:sp>
        <p:nvSpPr>
          <p:cNvPr id="38" name="Объект 5">
            <a:extLst>
              <a:ext uri="{FF2B5EF4-FFF2-40B4-BE49-F238E27FC236}">
                <a16:creationId xmlns:a16="http://schemas.microsoft.com/office/drawing/2014/main" id="{3E1DC2BC-DAAE-4D1A-9F8F-B920F0DC0458}"/>
              </a:ext>
            </a:extLst>
          </p:cNvPr>
          <p:cNvSpPr>
            <a:spLocks noGrp="1"/>
          </p:cNvSpPr>
          <p:nvPr/>
        </p:nvSpPr>
        <p:spPr>
          <a:xfrm flipH="1">
            <a:off x="11937624" y="6475632"/>
            <a:ext cx="554394" cy="28026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RU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A66D73-6D7C-44F8-99F2-20F99A5733F7}"/>
              </a:ext>
            </a:extLst>
          </p:cNvPr>
          <p:cNvSpPr txBox="1"/>
          <p:nvPr/>
        </p:nvSpPr>
        <p:spPr>
          <a:xfrm>
            <a:off x="553658" y="1148450"/>
            <a:ext cx="62468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r>
              <a:rPr lang="en-US" sz="1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pdf — </a:t>
            </a:r>
            <a:r>
              <a:rPr lang="en-US" sz="1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ассемблерный</a:t>
            </a:r>
            <a:r>
              <a:rPr lang="en-US" sz="1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код</a:t>
            </a:r>
            <a:r>
              <a:rPr lang="en-US" sz="1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функции</a:t>
            </a:r>
            <a:endParaRPr lang="en-US" sz="18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5552AF-82E1-4927-B830-2E73D2379F6F}"/>
              </a:ext>
            </a:extLst>
          </p:cNvPr>
          <p:cNvSpPr txBox="1"/>
          <p:nvPr/>
        </p:nvSpPr>
        <p:spPr>
          <a:xfrm>
            <a:off x="560044" y="1461971"/>
            <a:ext cx="62468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r>
              <a:rPr lang="en-US" sz="1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 s fcn.140012490 → pdf</a:t>
            </a:r>
            <a:endParaRPr lang="en-US" sz="1800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0818E90-1C6B-4BF5-BE96-AB753013EF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495" y="1831303"/>
            <a:ext cx="5563376" cy="4744112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5F7980D-18FA-4343-9265-906DE6380A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2374" y="0"/>
            <a:ext cx="4938783" cy="685800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3E008F9B-D915-44C4-A82C-F50C4D985865}"/>
              </a:ext>
            </a:extLst>
          </p:cNvPr>
          <p:cNvSpPr txBox="1"/>
          <p:nvPr/>
        </p:nvSpPr>
        <p:spPr>
          <a:xfrm>
            <a:off x="204604" y="6581001"/>
            <a:ext cx="62468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Radare2 </a:t>
            </a:r>
            <a:r>
              <a:rPr lang="en-US" sz="1200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отображает</a:t>
            </a:r>
            <a:r>
              <a:rPr lang="en-US" sz="12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адреса</a:t>
            </a:r>
            <a:r>
              <a:rPr lang="en-US" sz="12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опкоды</a:t>
            </a:r>
            <a:r>
              <a:rPr lang="en-US" sz="12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мнемоники</a:t>
            </a:r>
            <a:r>
              <a:rPr lang="en-US" sz="12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x86-64 и </a:t>
            </a:r>
            <a:r>
              <a:rPr lang="en-US" sz="1200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граф</a:t>
            </a:r>
            <a:r>
              <a:rPr lang="en-US" sz="12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переходов</a:t>
            </a:r>
            <a:r>
              <a:rPr lang="en-US" sz="12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200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стрелки</a:t>
            </a:r>
            <a:r>
              <a:rPr lang="en-US" sz="12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слева</a:t>
            </a:r>
            <a:r>
              <a:rPr lang="en-US" sz="12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488815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55717" y="228601"/>
            <a:ext cx="10515600" cy="6407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Граф</a:t>
            </a:r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потока</a:t>
            </a:r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управления</a:t>
            </a:r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(CFG)</a:t>
            </a:r>
            <a:endParaRPr lang="en-US" sz="24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237C0C-FAB0-47B1-AB02-A0E18D5E2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9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0AD77E8-54D0-4C81-8264-F5C4A5CB39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196" y="967998"/>
            <a:ext cx="3863782" cy="585216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3F9434C-645B-4D21-90E9-D78ED4A15D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9328" y="967998"/>
            <a:ext cx="5587387" cy="585216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092DD73-DC3A-4BCE-842E-4967C5806D1C}"/>
              </a:ext>
            </a:extLst>
          </p:cNvPr>
          <p:cNvSpPr txBox="1"/>
          <p:nvPr/>
        </p:nvSpPr>
        <p:spPr>
          <a:xfrm>
            <a:off x="155717" y="3108098"/>
            <a:ext cx="210016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i="1" dirty="0" err="1">
                <a:ea typeface="Calibri" pitchFamily="34" charset="-122"/>
                <a:cs typeface="Calibri" pitchFamily="34" charset="-120"/>
              </a:rPr>
              <a:t>Граф</a:t>
            </a:r>
            <a:r>
              <a:rPr lang="en-US" sz="1800" i="1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i="1" dirty="0" err="1">
                <a:ea typeface="Calibri" pitchFamily="34" charset="-122"/>
                <a:cs typeface="Calibri" pitchFamily="34" charset="-120"/>
              </a:rPr>
              <a:t>показывает</a:t>
            </a:r>
            <a:r>
              <a:rPr lang="en-US" sz="1800" i="1" dirty="0">
                <a:ea typeface="Calibri" pitchFamily="34" charset="-122"/>
                <a:cs typeface="Calibri" pitchFamily="34" charset="-120"/>
              </a:rPr>
              <a:t> 21 </a:t>
            </a:r>
            <a:r>
              <a:rPr lang="en-US" sz="1800" i="1" dirty="0" err="1">
                <a:ea typeface="Calibri" pitchFamily="34" charset="-122"/>
                <a:cs typeface="Calibri" pitchFamily="34" charset="-120"/>
              </a:rPr>
              <a:t>базовый</a:t>
            </a:r>
            <a:r>
              <a:rPr lang="en-US" sz="1800" i="1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i="1" dirty="0" err="1">
                <a:ea typeface="Calibri" pitchFamily="34" charset="-122"/>
                <a:cs typeface="Calibri" pitchFamily="34" charset="-120"/>
              </a:rPr>
              <a:t>блок</a:t>
            </a:r>
            <a:r>
              <a:rPr lang="en-US" sz="1800" i="1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i="1" dirty="0" err="1">
                <a:ea typeface="Calibri" pitchFamily="34" charset="-122"/>
                <a:cs typeface="Calibri" pitchFamily="34" charset="-120"/>
              </a:rPr>
              <a:t>функции</a:t>
            </a:r>
            <a:r>
              <a:rPr lang="en-US" sz="1800" i="1" dirty="0">
                <a:ea typeface="Calibri" pitchFamily="34" charset="-122"/>
                <a:cs typeface="Calibri" pitchFamily="34" charset="-120"/>
              </a:rPr>
              <a:t> fcn.140012490 и </a:t>
            </a:r>
            <a:r>
              <a:rPr lang="en-US" sz="1800" i="1" dirty="0" err="1">
                <a:ea typeface="Calibri" pitchFamily="34" charset="-122"/>
                <a:cs typeface="Calibri" pitchFamily="34" charset="-120"/>
              </a:rPr>
              <a:t>переходы</a:t>
            </a:r>
            <a:r>
              <a:rPr lang="en-US" sz="1800" i="1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i="1" dirty="0" err="1">
                <a:ea typeface="Calibri" pitchFamily="34" charset="-122"/>
                <a:cs typeface="Calibri" pitchFamily="34" charset="-120"/>
              </a:rPr>
              <a:t>между</a:t>
            </a:r>
            <a:r>
              <a:rPr lang="en-US" sz="1800" i="1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i="1" dirty="0" err="1">
                <a:ea typeface="Calibri" pitchFamily="34" charset="-122"/>
                <a:cs typeface="Calibri" pitchFamily="34" charset="-120"/>
              </a:rPr>
              <a:t>ними</a:t>
            </a:r>
            <a:endParaRPr lang="en-US" sz="1800" i="1" dirty="0"/>
          </a:p>
        </p:txBody>
      </p:sp>
    </p:spTree>
    <p:extLst>
      <p:ext uri="{BB962C8B-B14F-4D97-AF65-F5344CB8AC3E}">
        <p14:creationId xmlns:p14="http://schemas.microsoft.com/office/powerpoint/2010/main" val="25726692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7854" y="136525"/>
            <a:ext cx="10515600" cy="6407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Граф</a:t>
            </a:r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потока</a:t>
            </a:r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управления</a:t>
            </a:r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(CFG)</a:t>
            </a:r>
            <a:endParaRPr lang="en-US" sz="24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237C0C-FAB0-47B1-AB02-A0E18D5E2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10</a:t>
            </a:fld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92DD73-DC3A-4BCE-842E-4967C5806D1C}"/>
              </a:ext>
            </a:extLst>
          </p:cNvPr>
          <p:cNvSpPr txBox="1"/>
          <p:nvPr/>
        </p:nvSpPr>
        <p:spPr>
          <a:xfrm>
            <a:off x="155717" y="3108098"/>
            <a:ext cx="210016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i="1" dirty="0" err="1">
                <a:ea typeface="Calibri" pitchFamily="34" charset="-122"/>
                <a:cs typeface="Calibri" pitchFamily="34" charset="-120"/>
              </a:rPr>
              <a:t>Граф</a:t>
            </a:r>
            <a:r>
              <a:rPr lang="en-US" sz="1800" i="1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i="1" dirty="0" err="1">
                <a:ea typeface="Calibri" pitchFamily="34" charset="-122"/>
                <a:cs typeface="Calibri" pitchFamily="34" charset="-120"/>
              </a:rPr>
              <a:t>показывает</a:t>
            </a:r>
            <a:r>
              <a:rPr lang="en-US" sz="1800" i="1" dirty="0">
                <a:ea typeface="Calibri" pitchFamily="34" charset="-122"/>
                <a:cs typeface="Calibri" pitchFamily="34" charset="-120"/>
              </a:rPr>
              <a:t> 21 </a:t>
            </a:r>
            <a:r>
              <a:rPr lang="en-US" sz="1800" i="1" dirty="0" err="1">
                <a:ea typeface="Calibri" pitchFamily="34" charset="-122"/>
                <a:cs typeface="Calibri" pitchFamily="34" charset="-120"/>
              </a:rPr>
              <a:t>базовый</a:t>
            </a:r>
            <a:r>
              <a:rPr lang="en-US" sz="1800" i="1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i="1" dirty="0" err="1">
                <a:ea typeface="Calibri" pitchFamily="34" charset="-122"/>
                <a:cs typeface="Calibri" pitchFamily="34" charset="-120"/>
              </a:rPr>
              <a:t>блок</a:t>
            </a:r>
            <a:r>
              <a:rPr lang="en-US" sz="1800" i="1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i="1" dirty="0" err="1">
                <a:ea typeface="Calibri" pitchFamily="34" charset="-122"/>
                <a:cs typeface="Calibri" pitchFamily="34" charset="-120"/>
              </a:rPr>
              <a:t>функции</a:t>
            </a:r>
            <a:r>
              <a:rPr lang="en-US" sz="1800" i="1" dirty="0">
                <a:ea typeface="Calibri" pitchFamily="34" charset="-122"/>
                <a:cs typeface="Calibri" pitchFamily="34" charset="-120"/>
              </a:rPr>
              <a:t> fcn.140012490 и </a:t>
            </a:r>
            <a:r>
              <a:rPr lang="en-US" sz="1800" i="1" dirty="0" err="1">
                <a:ea typeface="Calibri" pitchFamily="34" charset="-122"/>
                <a:cs typeface="Calibri" pitchFamily="34" charset="-120"/>
              </a:rPr>
              <a:t>переходы</a:t>
            </a:r>
            <a:r>
              <a:rPr lang="en-US" sz="1800" i="1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i="1" dirty="0" err="1">
                <a:ea typeface="Calibri" pitchFamily="34" charset="-122"/>
                <a:cs typeface="Calibri" pitchFamily="34" charset="-120"/>
              </a:rPr>
              <a:t>между</a:t>
            </a:r>
            <a:r>
              <a:rPr lang="en-US" sz="1800" i="1" dirty="0"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i="1" dirty="0" err="1">
                <a:ea typeface="Calibri" pitchFamily="34" charset="-122"/>
                <a:cs typeface="Calibri" pitchFamily="34" charset="-120"/>
              </a:rPr>
              <a:t>ними</a:t>
            </a:r>
            <a:endParaRPr lang="en-US" sz="1800" i="1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1A8C9B7-585C-421D-9C03-AEBD96D85F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0544" y="869315"/>
            <a:ext cx="3217094" cy="590276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9D65ACF-9FEC-46E3-BF8A-F39ADC5CA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1770" y="869315"/>
            <a:ext cx="4897063" cy="5902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667734"/>
      </p:ext>
    </p:extLst>
  </p:cSld>
  <p:clrMapOvr>
    <a:masterClrMapping/>
  </p:clrMapOvr>
  <p:transition spd="slow">
    <p:cover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07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AI-</a:t>
            </a:r>
            <a:r>
              <a:rPr lang="en-US" sz="2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декомпиляцииa</a:t>
            </a:r>
            <a:endParaRPr lang="en-US" sz="24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237C0C-FAB0-47B1-AB02-A0E18D5E2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11</a:t>
            </a:fld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86AC23-2C5A-466A-AC35-C75DBC386545}"/>
              </a:ext>
            </a:extLst>
          </p:cNvPr>
          <p:cNvSpPr txBox="1"/>
          <p:nvPr/>
        </p:nvSpPr>
        <p:spPr>
          <a:xfrm>
            <a:off x="574124" y="917144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</a:t>
            </a:r>
            <a:r>
              <a:rPr lang="en-US" sz="1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qwen2.5-coder:3b </a:t>
            </a:r>
            <a:r>
              <a:rPr lang="en-US" sz="1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восстановила</a:t>
            </a:r>
            <a:r>
              <a:rPr lang="en-US" sz="1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структуру</a:t>
            </a:r>
            <a:r>
              <a:rPr lang="en-US" sz="1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кода</a:t>
            </a:r>
            <a:endParaRPr lang="en-US" sz="1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FE569A-662A-4A72-94FB-13277DA002E4}"/>
              </a:ext>
            </a:extLst>
          </p:cNvPr>
          <p:cNvSpPr txBox="1"/>
          <p:nvPr/>
        </p:nvSpPr>
        <p:spPr>
          <a:xfrm>
            <a:off x="574124" y="1234446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Скриншот</a:t>
            </a: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ответа</a:t>
            </a: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Ollama</a:t>
            </a: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800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31DC65C-4157-4600-BF29-C4794B5BEE0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124" y="1832384"/>
            <a:ext cx="11389260" cy="235501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37B9A31-0F05-4248-BEB3-BA81481D1145}"/>
              </a:ext>
            </a:extLst>
          </p:cNvPr>
          <p:cNvSpPr txBox="1"/>
          <p:nvPr/>
        </p:nvSpPr>
        <p:spPr>
          <a:xfrm>
            <a:off x="459464" y="4352831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Что</a:t>
            </a: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сделал</a:t>
            </a: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AI:</a:t>
            </a:r>
            <a:endParaRPr lang="en-US" sz="1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BF800A-875F-4424-A4FB-FF5BA0FBA13A}"/>
              </a:ext>
            </a:extLst>
          </p:cNvPr>
          <p:cNvSpPr txBox="1"/>
          <p:nvPr/>
        </p:nvSpPr>
        <p:spPr>
          <a:xfrm>
            <a:off x="459464" y="4785335"/>
            <a:ext cx="609750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SzPct val="100000"/>
              <a:buChar char="•"/>
            </a:pP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Восстановил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структуру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функции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main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машинного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кода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Заменил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goto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структурированный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управления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(if/else)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Распознал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вызовы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функций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их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аргументы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Вывел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типы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переменных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(int, void*, double)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247550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cover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29147" y="102576"/>
            <a:ext cx="6528758" cy="8006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Локальный</a:t>
            </a:r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AI-</a:t>
            </a:r>
            <a:r>
              <a:rPr lang="en-US" sz="2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</a:t>
            </a:r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Ollama</a:t>
            </a:r>
            <a:endParaRPr lang="en-US" sz="24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237C0C-FAB0-47B1-AB02-A0E18D5E2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12</a:t>
            </a:fld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B07395-672D-4FA7-BB70-F0563A724F3E}"/>
              </a:ext>
            </a:extLst>
          </p:cNvPr>
          <p:cNvSpPr txBox="1"/>
          <p:nvPr/>
        </p:nvSpPr>
        <p:spPr>
          <a:xfrm>
            <a:off x="829147" y="903220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</a:t>
            </a:r>
            <a:r>
              <a:rPr lang="en-US" sz="1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LLM </a:t>
            </a:r>
            <a:r>
              <a:rPr lang="en-US" sz="1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без</a:t>
            </a:r>
            <a:r>
              <a:rPr lang="en-US" sz="1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передачи</a:t>
            </a:r>
            <a:r>
              <a:rPr lang="en-US" sz="1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кода</a:t>
            </a:r>
            <a:r>
              <a:rPr lang="en-US" sz="1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в </a:t>
            </a:r>
            <a:r>
              <a:rPr lang="en-US" sz="1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интернет</a:t>
            </a:r>
            <a:endParaRPr lang="en-US" sz="18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B683AD2-843E-46AC-A189-571997DD04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07" y="1598250"/>
            <a:ext cx="11717385" cy="11336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92FD23D-4C42-4442-8761-F439A8EDF7D5}"/>
              </a:ext>
            </a:extLst>
          </p:cNvPr>
          <p:cNvSpPr txBox="1"/>
          <p:nvPr/>
        </p:nvSpPr>
        <p:spPr>
          <a:xfrm>
            <a:off x="829147" y="3242247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Используемые</a:t>
            </a: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</a:t>
            </a: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80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B3DC0FD9-44CF-4A4F-9B8D-5AF44E70B590}"/>
              </a:ext>
            </a:extLst>
          </p:cNvPr>
          <p:cNvSpPr/>
          <p:nvPr/>
        </p:nvSpPr>
        <p:spPr>
          <a:xfrm>
            <a:off x="549246" y="4282289"/>
            <a:ext cx="4788271" cy="1778101"/>
          </a:xfrm>
          <a:prstGeom prst="roundRect">
            <a:avLst/>
          </a:prstGeom>
          <a:solidFill>
            <a:srgbClr val="E8FFF5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9B99E05B-0B58-4EA5-8E2F-A234238A9EB7}"/>
              </a:ext>
            </a:extLst>
          </p:cNvPr>
          <p:cNvSpPr/>
          <p:nvPr/>
        </p:nvSpPr>
        <p:spPr>
          <a:xfrm>
            <a:off x="762057" y="4425852"/>
            <a:ext cx="4362647" cy="5715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qwen2.5-coder:3b</a:t>
            </a:r>
            <a:endParaRPr lang="en-US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4015216D-6310-4813-B8A3-037DB118C0AF}"/>
              </a:ext>
            </a:extLst>
          </p:cNvPr>
          <p:cNvSpPr/>
          <p:nvPr/>
        </p:nvSpPr>
        <p:spPr>
          <a:xfrm>
            <a:off x="732126" y="5016396"/>
            <a:ext cx="4362647" cy="9525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Размер: 1.9 GB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Специализирована на коде, быстрая</a:t>
            </a:r>
            <a:endParaRPr lang="en-US" sz="1600" dirty="0"/>
          </a:p>
        </p:txBody>
      </p:sp>
      <p:sp>
        <p:nvSpPr>
          <p:cNvPr id="15" name="Shape 7">
            <a:extLst>
              <a:ext uri="{FF2B5EF4-FFF2-40B4-BE49-F238E27FC236}">
                <a16:creationId xmlns:a16="http://schemas.microsoft.com/office/drawing/2014/main" id="{3BC14F0E-9B46-41F1-86CE-9BE0EA08CE4E}"/>
              </a:ext>
            </a:extLst>
          </p:cNvPr>
          <p:cNvSpPr/>
          <p:nvPr/>
        </p:nvSpPr>
        <p:spPr>
          <a:xfrm>
            <a:off x="6565529" y="4282289"/>
            <a:ext cx="4788271" cy="1778101"/>
          </a:xfrm>
          <a:prstGeom prst="roundRect">
            <a:avLst/>
          </a:prstGeom>
          <a:solidFill>
            <a:srgbClr val="EAF6FF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1296F8A1-85BD-445B-8D38-3FFB7205B3E6}"/>
              </a:ext>
            </a:extLst>
          </p:cNvPr>
          <p:cNvSpPr/>
          <p:nvPr/>
        </p:nvSpPr>
        <p:spPr>
          <a:xfrm>
            <a:off x="6778340" y="4425852"/>
            <a:ext cx="4362647" cy="5715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llama3:latest</a:t>
            </a:r>
            <a:endParaRPr lang="en-US" dirty="0"/>
          </a:p>
        </p:txBody>
      </p:sp>
      <p:sp>
        <p:nvSpPr>
          <p:cNvPr id="17" name="Text 9">
            <a:extLst>
              <a:ext uri="{FF2B5EF4-FFF2-40B4-BE49-F238E27FC236}">
                <a16:creationId xmlns:a16="http://schemas.microsoft.com/office/drawing/2014/main" id="{5CC136FC-74EA-43BA-AE9D-22280C190E89}"/>
              </a:ext>
            </a:extLst>
          </p:cNvPr>
          <p:cNvSpPr/>
          <p:nvPr/>
        </p:nvSpPr>
        <p:spPr>
          <a:xfrm>
            <a:off x="6748409" y="5016396"/>
            <a:ext cx="4362647" cy="9525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Размер: 4.7 GB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модель, более мощная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135865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cover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01575" y="495222"/>
            <a:ext cx="10515600" cy="6407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</a:t>
            </a:r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с </a:t>
            </a:r>
            <a:r>
              <a:rPr lang="en-US" sz="2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другими</a:t>
            </a:r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инструментами</a:t>
            </a:r>
            <a:endParaRPr lang="en-US" sz="24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237C0C-FAB0-47B1-AB02-A0E18D5E2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13</a:t>
            </a:fld>
            <a:endParaRPr lang="ru-RU" dirty="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332409BB-77EA-4A84-99B8-CF9E07EFE1DB}"/>
              </a:ext>
            </a:extLst>
          </p:cNvPr>
          <p:cNvSpPr/>
          <p:nvPr/>
        </p:nvSpPr>
        <p:spPr>
          <a:xfrm>
            <a:off x="1351229" y="1784890"/>
            <a:ext cx="2286000" cy="41148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8FA23C7-A639-47B0-B9DA-CEBDE09D4390}"/>
              </a:ext>
            </a:extLst>
          </p:cNvPr>
          <p:cNvSpPr/>
          <p:nvPr/>
        </p:nvSpPr>
        <p:spPr>
          <a:xfrm>
            <a:off x="1351229" y="178489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Критерий</a:t>
            </a:r>
            <a:endParaRPr lang="en-US" sz="1200" dirty="0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EAC242FD-1317-4A75-86E0-9FF6FA6D3505}"/>
              </a:ext>
            </a:extLst>
          </p:cNvPr>
          <p:cNvSpPr/>
          <p:nvPr/>
        </p:nvSpPr>
        <p:spPr>
          <a:xfrm>
            <a:off x="3682949" y="1784890"/>
            <a:ext cx="2103120" cy="41148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E8B0604D-CA7D-4FBA-8F0C-1D6FFD0945D4}"/>
              </a:ext>
            </a:extLst>
          </p:cNvPr>
          <p:cNvSpPr/>
          <p:nvPr/>
        </p:nvSpPr>
        <p:spPr>
          <a:xfrm>
            <a:off x="3682949" y="178489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Radare2 + Decai</a:t>
            </a:r>
            <a:endParaRPr lang="en-US" sz="1200" dirty="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542352C5-E28B-43D3-849D-21828EC61BD9}"/>
              </a:ext>
            </a:extLst>
          </p:cNvPr>
          <p:cNvSpPr/>
          <p:nvPr/>
        </p:nvSpPr>
        <p:spPr>
          <a:xfrm>
            <a:off x="5831789" y="1784890"/>
            <a:ext cx="2103120" cy="41148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B698FCC8-74BA-46B3-BBB8-B21C2E7352A1}"/>
              </a:ext>
            </a:extLst>
          </p:cNvPr>
          <p:cNvSpPr/>
          <p:nvPr/>
        </p:nvSpPr>
        <p:spPr>
          <a:xfrm>
            <a:off x="5831789" y="178489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 Pro</a:t>
            </a:r>
            <a:endParaRPr lang="en-US" sz="1200" dirty="0"/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39467FAC-FFAB-42E2-B5CF-BAFA7B8115A2}"/>
              </a:ext>
            </a:extLst>
          </p:cNvPr>
          <p:cNvSpPr/>
          <p:nvPr/>
        </p:nvSpPr>
        <p:spPr>
          <a:xfrm>
            <a:off x="7980629" y="1784890"/>
            <a:ext cx="2103120" cy="41148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17400BFD-5619-48BA-B1E4-EBD27F48424D}"/>
              </a:ext>
            </a:extLst>
          </p:cNvPr>
          <p:cNvSpPr/>
          <p:nvPr/>
        </p:nvSpPr>
        <p:spPr>
          <a:xfrm>
            <a:off x="7980629" y="178489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Ghidra</a:t>
            </a:r>
            <a:endParaRPr lang="en-US" sz="1200" dirty="0"/>
          </a:p>
        </p:txBody>
      </p:sp>
      <p:sp>
        <p:nvSpPr>
          <p:cNvPr id="16" name="Shape 10">
            <a:extLst>
              <a:ext uri="{FF2B5EF4-FFF2-40B4-BE49-F238E27FC236}">
                <a16:creationId xmlns:a16="http://schemas.microsoft.com/office/drawing/2014/main" id="{0FFF6B6F-AF5E-4747-BA1C-8B111B599E16}"/>
              </a:ext>
            </a:extLst>
          </p:cNvPr>
          <p:cNvSpPr/>
          <p:nvPr/>
        </p:nvSpPr>
        <p:spPr>
          <a:xfrm>
            <a:off x="1351229" y="2214658"/>
            <a:ext cx="2286000" cy="47548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9C6D5AF9-0D46-4784-8F18-1B64F8777536}"/>
              </a:ext>
            </a:extLst>
          </p:cNvPr>
          <p:cNvSpPr/>
          <p:nvPr/>
        </p:nvSpPr>
        <p:spPr>
          <a:xfrm>
            <a:off x="1396949" y="2232946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</a:t>
            </a:r>
            <a:endParaRPr lang="en-US" sz="1100" dirty="0"/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BEE48111-B1E6-4E5D-87FD-266D7651CF19}"/>
              </a:ext>
            </a:extLst>
          </p:cNvPr>
          <p:cNvSpPr/>
          <p:nvPr/>
        </p:nvSpPr>
        <p:spPr>
          <a:xfrm>
            <a:off x="3682949" y="2214658"/>
            <a:ext cx="2103120" cy="475488"/>
          </a:xfrm>
          <a:prstGeom prst="rect">
            <a:avLst/>
          </a:prstGeom>
          <a:solidFill>
            <a:srgbClr val="EAF6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A1C85DAF-6DD1-4024-B746-0CF49947C17C}"/>
              </a:ext>
            </a:extLst>
          </p:cNvPr>
          <p:cNvSpPr/>
          <p:nvPr/>
        </p:nvSpPr>
        <p:spPr>
          <a:xfrm>
            <a:off x="3728669" y="2232946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Бесплатно</a:t>
            </a:r>
            <a:endParaRPr lang="en-US" sz="1100" dirty="0"/>
          </a:p>
        </p:txBody>
      </p:sp>
      <p:sp>
        <p:nvSpPr>
          <p:cNvPr id="20" name="Shape 14">
            <a:extLst>
              <a:ext uri="{FF2B5EF4-FFF2-40B4-BE49-F238E27FC236}">
                <a16:creationId xmlns:a16="http://schemas.microsoft.com/office/drawing/2014/main" id="{6AB70752-4973-4E7D-814B-C887B0B58541}"/>
              </a:ext>
            </a:extLst>
          </p:cNvPr>
          <p:cNvSpPr/>
          <p:nvPr/>
        </p:nvSpPr>
        <p:spPr>
          <a:xfrm>
            <a:off x="5831789" y="2214658"/>
            <a:ext cx="2103120" cy="47548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0F6E8FCB-0779-4E76-8038-BB57E20A709D}"/>
              </a:ext>
            </a:extLst>
          </p:cNvPr>
          <p:cNvSpPr/>
          <p:nvPr/>
        </p:nvSpPr>
        <p:spPr>
          <a:xfrm>
            <a:off x="5877509" y="2232946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Платно (дорого)</a:t>
            </a:r>
            <a:endParaRPr lang="en-US" sz="1100" dirty="0"/>
          </a:p>
        </p:txBody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501F473B-505D-4344-9BE9-9E230A105DC1}"/>
              </a:ext>
            </a:extLst>
          </p:cNvPr>
          <p:cNvSpPr/>
          <p:nvPr/>
        </p:nvSpPr>
        <p:spPr>
          <a:xfrm>
            <a:off x="7980629" y="2214658"/>
            <a:ext cx="2103120" cy="47548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DB548627-3ABA-4900-BA68-977265F0F1BE}"/>
              </a:ext>
            </a:extLst>
          </p:cNvPr>
          <p:cNvSpPr/>
          <p:nvPr/>
        </p:nvSpPr>
        <p:spPr>
          <a:xfrm>
            <a:off x="8026349" y="2232946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Бесплатно</a:t>
            </a:r>
            <a:endParaRPr lang="en-US" sz="1100" dirty="0"/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9822DDB0-8DF0-48E8-9D9F-DFC5A278A965}"/>
              </a:ext>
            </a:extLst>
          </p:cNvPr>
          <p:cNvSpPr/>
          <p:nvPr/>
        </p:nvSpPr>
        <p:spPr>
          <a:xfrm>
            <a:off x="1351229" y="2717578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80A444CA-936C-4B51-8D00-821A5260626D}"/>
              </a:ext>
            </a:extLst>
          </p:cNvPr>
          <p:cNvSpPr/>
          <p:nvPr/>
        </p:nvSpPr>
        <p:spPr>
          <a:xfrm>
            <a:off x="1396949" y="2735866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AI-декомпиляция</a:t>
            </a:r>
            <a:endParaRPr lang="en-US" sz="1100" dirty="0"/>
          </a:p>
        </p:txBody>
      </p:sp>
      <p:sp>
        <p:nvSpPr>
          <p:cNvPr id="26" name="Shape 20">
            <a:extLst>
              <a:ext uri="{FF2B5EF4-FFF2-40B4-BE49-F238E27FC236}">
                <a16:creationId xmlns:a16="http://schemas.microsoft.com/office/drawing/2014/main" id="{55FE30E9-1543-4D57-BED8-18AD03E7A537}"/>
              </a:ext>
            </a:extLst>
          </p:cNvPr>
          <p:cNvSpPr/>
          <p:nvPr/>
        </p:nvSpPr>
        <p:spPr>
          <a:xfrm>
            <a:off x="3682949" y="2717578"/>
            <a:ext cx="2103120" cy="475488"/>
          </a:xfrm>
          <a:prstGeom prst="rect">
            <a:avLst/>
          </a:prstGeom>
          <a:solidFill>
            <a:srgbClr val="EAF6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0505E5AE-96C4-46ED-86B7-4B55991B0FCE}"/>
              </a:ext>
            </a:extLst>
          </p:cNvPr>
          <p:cNvSpPr/>
          <p:nvPr/>
        </p:nvSpPr>
        <p:spPr>
          <a:xfrm>
            <a:off x="3728669" y="2735866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 (LLM)</a:t>
            </a:r>
            <a:endParaRPr lang="en-US" sz="1100" dirty="0"/>
          </a:p>
        </p:txBody>
      </p:sp>
      <p:sp>
        <p:nvSpPr>
          <p:cNvPr id="28" name="Shape 22">
            <a:extLst>
              <a:ext uri="{FF2B5EF4-FFF2-40B4-BE49-F238E27FC236}">
                <a16:creationId xmlns:a16="http://schemas.microsoft.com/office/drawing/2014/main" id="{22865B5D-1C37-426B-9DE3-741758B6DB94}"/>
              </a:ext>
            </a:extLst>
          </p:cNvPr>
          <p:cNvSpPr/>
          <p:nvPr/>
        </p:nvSpPr>
        <p:spPr>
          <a:xfrm>
            <a:off x="5831789" y="2717578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EA52A878-B295-4687-877C-114F749BD43F}"/>
              </a:ext>
            </a:extLst>
          </p:cNvPr>
          <p:cNvSpPr/>
          <p:nvPr/>
        </p:nvSpPr>
        <p:spPr>
          <a:xfrm>
            <a:off x="5877509" y="2735866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</a:t>
            </a:r>
            <a:endParaRPr lang="en-US" sz="1100" dirty="0"/>
          </a:p>
        </p:txBody>
      </p:sp>
      <p:sp>
        <p:nvSpPr>
          <p:cNvPr id="30" name="Shape 24">
            <a:extLst>
              <a:ext uri="{FF2B5EF4-FFF2-40B4-BE49-F238E27FC236}">
                <a16:creationId xmlns:a16="http://schemas.microsoft.com/office/drawing/2014/main" id="{6F68FA83-9E53-40F2-831B-4F573EAC561F}"/>
              </a:ext>
            </a:extLst>
          </p:cNvPr>
          <p:cNvSpPr/>
          <p:nvPr/>
        </p:nvSpPr>
        <p:spPr>
          <a:xfrm>
            <a:off x="7980629" y="2717578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25E6C7EA-CB17-4B0A-96CE-1CB98D436A5A}"/>
              </a:ext>
            </a:extLst>
          </p:cNvPr>
          <p:cNvSpPr/>
          <p:nvPr/>
        </p:nvSpPr>
        <p:spPr>
          <a:xfrm>
            <a:off x="8026349" y="2735866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</a:t>
            </a:r>
            <a:endParaRPr lang="en-US" sz="1100" dirty="0"/>
          </a:p>
        </p:txBody>
      </p:sp>
      <p:sp>
        <p:nvSpPr>
          <p:cNvPr id="32" name="Shape 26">
            <a:extLst>
              <a:ext uri="{FF2B5EF4-FFF2-40B4-BE49-F238E27FC236}">
                <a16:creationId xmlns:a16="http://schemas.microsoft.com/office/drawing/2014/main" id="{9FDE6CE0-FAD3-4FEB-80E8-52968B51C85D}"/>
              </a:ext>
            </a:extLst>
          </p:cNvPr>
          <p:cNvSpPr/>
          <p:nvPr/>
        </p:nvSpPr>
        <p:spPr>
          <a:xfrm>
            <a:off x="1351229" y="3220498"/>
            <a:ext cx="2286000" cy="47548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D88CD8EB-E8F2-4DE1-A9F5-DC1801CFC5EB}"/>
              </a:ext>
            </a:extLst>
          </p:cNvPr>
          <p:cNvSpPr/>
          <p:nvPr/>
        </p:nvSpPr>
        <p:spPr>
          <a:xfrm>
            <a:off x="1396949" y="3238786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Локальная работа</a:t>
            </a:r>
            <a:endParaRPr lang="en-US" sz="1100" dirty="0"/>
          </a:p>
        </p:txBody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B1A9C1EF-00C8-490C-95F8-743185072695}"/>
              </a:ext>
            </a:extLst>
          </p:cNvPr>
          <p:cNvSpPr/>
          <p:nvPr/>
        </p:nvSpPr>
        <p:spPr>
          <a:xfrm>
            <a:off x="3682949" y="3220498"/>
            <a:ext cx="2103120" cy="475488"/>
          </a:xfrm>
          <a:prstGeom prst="rect">
            <a:avLst/>
          </a:prstGeom>
          <a:solidFill>
            <a:srgbClr val="EAF6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D6FB69AF-CAC2-45EF-85BE-85EAE0C135F2}"/>
              </a:ext>
            </a:extLst>
          </p:cNvPr>
          <p:cNvSpPr/>
          <p:nvPr/>
        </p:nvSpPr>
        <p:spPr>
          <a:xfrm>
            <a:off x="3728669" y="3238786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</a:t>
            </a:r>
            <a:endParaRPr lang="en-US" sz="1100" dirty="0"/>
          </a:p>
        </p:txBody>
      </p:sp>
      <p:sp>
        <p:nvSpPr>
          <p:cNvPr id="36" name="Shape 30">
            <a:extLst>
              <a:ext uri="{FF2B5EF4-FFF2-40B4-BE49-F238E27FC236}">
                <a16:creationId xmlns:a16="http://schemas.microsoft.com/office/drawing/2014/main" id="{849C991D-56CF-4915-82B9-D6E154D7F455}"/>
              </a:ext>
            </a:extLst>
          </p:cNvPr>
          <p:cNvSpPr/>
          <p:nvPr/>
        </p:nvSpPr>
        <p:spPr>
          <a:xfrm>
            <a:off x="5831789" y="3220498"/>
            <a:ext cx="2103120" cy="47548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Text 31">
            <a:extLst>
              <a:ext uri="{FF2B5EF4-FFF2-40B4-BE49-F238E27FC236}">
                <a16:creationId xmlns:a16="http://schemas.microsoft.com/office/drawing/2014/main" id="{4330BB99-6A3D-41DE-990E-7235D454DE95}"/>
              </a:ext>
            </a:extLst>
          </p:cNvPr>
          <p:cNvSpPr/>
          <p:nvPr/>
        </p:nvSpPr>
        <p:spPr>
          <a:xfrm>
            <a:off x="5877509" y="3238786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</a:t>
            </a:r>
            <a:endParaRPr lang="en-US" sz="1100" dirty="0"/>
          </a:p>
        </p:txBody>
      </p:sp>
      <p:sp>
        <p:nvSpPr>
          <p:cNvPr id="38" name="Shape 32">
            <a:extLst>
              <a:ext uri="{FF2B5EF4-FFF2-40B4-BE49-F238E27FC236}">
                <a16:creationId xmlns:a16="http://schemas.microsoft.com/office/drawing/2014/main" id="{EE711C32-551C-4076-9943-A956C410AD1B}"/>
              </a:ext>
            </a:extLst>
          </p:cNvPr>
          <p:cNvSpPr/>
          <p:nvPr/>
        </p:nvSpPr>
        <p:spPr>
          <a:xfrm>
            <a:off x="7980629" y="3220498"/>
            <a:ext cx="2103120" cy="47548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9" name="Text 33">
            <a:extLst>
              <a:ext uri="{FF2B5EF4-FFF2-40B4-BE49-F238E27FC236}">
                <a16:creationId xmlns:a16="http://schemas.microsoft.com/office/drawing/2014/main" id="{86F3D653-63BD-4757-8B99-10F0AB5809AC}"/>
              </a:ext>
            </a:extLst>
          </p:cNvPr>
          <p:cNvSpPr/>
          <p:nvPr/>
        </p:nvSpPr>
        <p:spPr>
          <a:xfrm>
            <a:off x="8026349" y="3238786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</a:t>
            </a:r>
            <a:endParaRPr lang="en-US" sz="1100" dirty="0"/>
          </a:p>
        </p:txBody>
      </p:sp>
      <p:sp>
        <p:nvSpPr>
          <p:cNvPr id="40" name="Shape 34">
            <a:extLst>
              <a:ext uri="{FF2B5EF4-FFF2-40B4-BE49-F238E27FC236}">
                <a16:creationId xmlns:a16="http://schemas.microsoft.com/office/drawing/2014/main" id="{08046C39-00D4-42BA-BCBD-3547C11B51D7}"/>
              </a:ext>
            </a:extLst>
          </p:cNvPr>
          <p:cNvSpPr/>
          <p:nvPr/>
        </p:nvSpPr>
        <p:spPr>
          <a:xfrm>
            <a:off x="1351229" y="3723418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5">
            <a:extLst>
              <a:ext uri="{FF2B5EF4-FFF2-40B4-BE49-F238E27FC236}">
                <a16:creationId xmlns:a16="http://schemas.microsoft.com/office/drawing/2014/main" id="{24D11F5B-35D4-4571-B1B8-042D210E4577}"/>
              </a:ext>
            </a:extLst>
          </p:cNvPr>
          <p:cNvSpPr/>
          <p:nvPr/>
        </p:nvSpPr>
        <p:spPr>
          <a:xfrm>
            <a:off x="1396949" y="3741706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поддержка</a:t>
            </a:r>
            <a:endParaRPr lang="en-US" sz="1100" dirty="0"/>
          </a:p>
        </p:txBody>
      </p:sp>
      <p:sp>
        <p:nvSpPr>
          <p:cNvPr id="42" name="Shape 36">
            <a:extLst>
              <a:ext uri="{FF2B5EF4-FFF2-40B4-BE49-F238E27FC236}">
                <a16:creationId xmlns:a16="http://schemas.microsoft.com/office/drawing/2014/main" id="{6996E401-1288-4068-A650-EB166D8A525C}"/>
              </a:ext>
            </a:extLst>
          </p:cNvPr>
          <p:cNvSpPr/>
          <p:nvPr/>
        </p:nvSpPr>
        <p:spPr>
          <a:xfrm>
            <a:off x="3682949" y="3723418"/>
            <a:ext cx="2103120" cy="475488"/>
          </a:xfrm>
          <a:prstGeom prst="rect">
            <a:avLst/>
          </a:prstGeom>
          <a:solidFill>
            <a:srgbClr val="EAF6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3" name="Text 37">
            <a:extLst>
              <a:ext uri="{FF2B5EF4-FFF2-40B4-BE49-F238E27FC236}">
                <a16:creationId xmlns:a16="http://schemas.microsoft.com/office/drawing/2014/main" id="{F697E1B8-79F7-4DB1-A653-2A764506158C}"/>
              </a:ext>
            </a:extLst>
          </p:cNvPr>
          <p:cNvSpPr/>
          <p:nvPr/>
        </p:nvSpPr>
        <p:spPr>
          <a:xfrm>
            <a:off x="3728669" y="3741706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Да*</a:t>
            </a:r>
            <a:endParaRPr lang="en-US" sz="1100" dirty="0"/>
          </a:p>
        </p:txBody>
      </p:sp>
      <p:sp>
        <p:nvSpPr>
          <p:cNvPr id="44" name="Shape 38">
            <a:extLst>
              <a:ext uri="{FF2B5EF4-FFF2-40B4-BE49-F238E27FC236}">
                <a16:creationId xmlns:a16="http://schemas.microsoft.com/office/drawing/2014/main" id="{B2DDBDED-1A76-4E34-8E92-1CB663464AD0}"/>
              </a:ext>
            </a:extLst>
          </p:cNvPr>
          <p:cNvSpPr/>
          <p:nvPr/>
        </p:nvSpPr>
        <p:spPr>
          <a:xfrm>
            <a:off x="5831789" y="3723418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5" name="Text 39">
            <a:extLst>
              <a:ext uri="{FF2B5EF4-FFF2-40B4-BE49-F238E27FC236}">
                <a16:creationId xmlns:a16="http://schemas.microsoft.com/office/drawing/2014/main" id="{444E5A70-60E6-4EB9-B5B3-D3531AB76492}"/>
              </a:ext>
            </a:extLst>
          </p:cNvPr>
          <p:cNvSpPr/>
          <p:nvPr/>
        </p:nvSpPr>
        <p:spPr>
          <a:xfrm>
            <a:off x="5877509" y="3741706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</a:t>
            </a:r>
            <a:endParaRPr lang="en-US" sz="1100" dirty="0"/>
          </a:p>
        </p:txBody>
      </p:sp>
      <p:sp>
        <p:nvSpPr>
          <p:cNvPr id="46" name="Shape 40">
            <a:extLst>
              <a:ext uri="{FF2B5EF4-FFF2-40B4-BE49-F238E27FC236}">
                <a16:creationId xmlns:a16="http://schemas.microsoft.com/office/drawing/2014/main" id="{8B54B4F4-EBE7-4B1F-85C7-6A4A9B676A26}"/>
              </a:ext>
            </a:extLst>
          </p:cNvPr>
          <p:cNvSpPr/>
          <p:nvPr/>
        </p:nvSpPr>
        <p:spPr>
          <a:xfrm>
            <a:off x="7980629" y="3723418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7" name="Text 41">
            <a:extLst>
              <a:ext uri="{FF2B5EF4-FFF2-40B4-BE49-F238E27FC236}">
                <a16:creationId xmlns:a16="http://schemas.microsoft.com/office/drawing/2014/main" id="{EFD8A8A8-08D8-40C1-B239-D8083AD5F94C}"/>
              </a:ext>
            </a:extLst>
          </p:cNvPr>
          <p:cNvSpPr/>
          <p:nvPr/>
        </p:nvSpPr>
        <p:spPr>
          <a:xfrm>
            <a:off x="8026349" y="3741706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</a:t>
            </a:r>
            <a:endParaRPr lang="en-US" sz="1100" dirty="0"/>
          </a:p>
        </p:txBody>
      </p:sp>
      <p:sp>
        <p:nvSpPr>
          <p:cNvPr id="48" name="Shape 42">
            <a:extLst>
              <a:ext uri="{FF2B5EF4-FFF2-40B4-BE49-F238E27FC236}">
                <a16:creationId xmlns:a16="http://schemas.microsoft.com/office/drawing/2014/main" id="{C52ADD44-E9C1-4199-BC7A-4377CB5249B0}"/>
              </a:ext>
            </a:extLst>
          </p:cNvPr>
          <p:cNvSpPr/>
          <p:nvPr/>
        </p:nvSpPr>
        <p:spPr>
          <a:xfrm>
            <a:off x="1351229" y="4226338"/>
            <a:ext cx="2286000" cy="47548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9" name="Text 43">
            <a:extLst>
              <a:ext uri="{FF2B5EF4-FFF2-40B4-BE49-F238E27FC236}">
                <a16:creationId xmlns:a16="http://schemas.microsoft.com/office/drawing/2014/main" id="{EA71CF43-4865-42C0-AB7F-3A2A0EBE66A5}"/>
              </a:ext>
            </a:extLst>
          </p:cNvPr>
          <p:cNvSpPr/>
          <p:nvPr/>
        </p:nvSpPr>
        <p:spPr>
          <a:xfrm>
            <a:off x="1396949" y="4244626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декомп.</a:t>
            </a:r>
            <a:endParaRPr lang="en-US" sz="1100" dirty="0"/>
          </a:p>
        </p:txBody>
      </p:sp>
      <p:sp>
        <p:nvSpPr>
          <p:cNvPr id="50" name="Shape 44">
            <a:extLst>
              <a:ext uri="{FF2B5EF4-FFF2-40B4-BE49-F238E27FC236}">
                <a16:creationId xmlns:a16="http://schemas.microsoft.com/office/drawing/2014/main" id="{2B72B5CB-03A3-4236-BE63-4175CF9289B7}"/>
              </a:ext>
            </a:extLst>
          </p:cNvPr>
          <p:cNvSpPr/>
          <p:nvPr/>
        </p:nvSpPr>
        <p:spPr>
          <a:xfrm>
            <a:off x="3682949" y="4226338"/>
            <a:ext cx="2103120" cy="475488"/>
          </a:xfrm>
          <a:prstGeom prst="rect">
            <a:avLst/>
          </a:prstGeom>
          <a:solidFill>
            <a:srgbClr val="EAF6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Text 45">
            <a:extLst>
              <a:ext uri="{FF2B5EF4-FFF2-40B4-BE49-F238E27FC236}">
                <a16:creationId xmlns:a16="http://schemas.microsoft.com/office/drawing/2014/main" id="{039DE453-B7D0-48EC-8580-A12BDC8FF224}"/>
              </a:ext>
            </a:extLst>
          </p:cNvPr>
          <p:cNvSpPr/>
          <p:nvPr/>
        </p:nvSpPr>
        <p:spPr>
          <a:xfrm>
            <a:off x="3728669" y="4244626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Среднее</a:t>
            </a:r>
            <a:endParaRPr lang="en-US" sz="1100" dirty="0"/>
          </a:p>
        </p:txBody>
      </p:sp>
      <p:sp>
        <p:nvSpPr>
          <p:cNvPr id="52" name="Shape 46">
            <a:extLst>
              <a:ext uri="{FF2B5EF4-FFF2-40B4-BE49-F238E27FC236}">
                <a16:creationId xmlns:a16="http://schemas.microsoft.com/office/drawing/2014/main" id="{096BCFB1-4C30-4CC1-8D99-35211AAE7218}"/>
              </a:ext>
            </a:extLst>
          </p:cNvPr>
          <p:cNvSpPr/>
          <p:nvPr/>
        </p:nvSpPr>
        <p:spPr>
          <a:xfrm>
            <a:off x="5831789" y="4226338"/>
            <a:ext cx="2103120" cy="47548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3" name="Text 47">
            <a:extLst>
              <a:ext uri="{FF2B5EF4-FFF2-40B4-BE49-F238E27FC236}">
                <a16:creationId xmlns:a16="http://schemas.microsoft.com/office/drawing/2014/main" id="{1AD22CF5-293A-4A8D-875D-E88265AAF972}"/>
              </a:ext>
            </a:extLst>
          </p:cNvPr>
          <p:cNvSpPr/>
          <p:nvPr/>
        </p:nvSpPr>
        <p:spPr>
          <a:xfrm>
            <a:off x="5877509" y="4244626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Высокое</a:t>
            </a:r>
            <a:endParaRPr lang="en-US" sz="1100" dirty="0"/>
          </a:p>
        </p:txBody>
      </p:sp>
      <p:sp>
        <p:nvSpPr>
          <p:cNvPr id="54" name="Shape 48">
            <a:extLst>
              <a:ext uri="{FF2B5EF4-FFF2-40B4-BE49-F238E27FC236}">
                <a16:creationId xmlns:a16="http://schemas.microsoft.com/office/drawing/2014/main" id="{49468468-34BA-4F4D-8C0C-9813194EE0A8}"/>
              </a:ext>
            </a:extLst>
          </p:cNvPr>
          <p:cNvSpPr/>
          <p:nvPr/>
        </p:nvSpPr>
        <p:spPr>
          <a:xfrm>
            <a:off x="7980629" y="4226338"/>
            <a:ext cx="2103120" cy="47548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5" name="Text 49">
            <a:extLst>
              <a:ext uri="{FF2B5EF4-FFF2-40B4-BE49-F238E27FC236}">
                <a16:creationId xmlns:a16="http://schemas.microsoft.com/office/drawing/2014/main" id="{42493DD2-6207-4313-A09E-02FE6295AAAA}"/>
              </a:ext>
            </a:extLst>
          </p:cNvPr>
          <p:cNvSpPr/>
          <p:nvPr/>
        </p:nvSpPr>
        <p:spPr>
          <a:xfrm>
            <a:off x="8026349" y="4244626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Высокое</a:t>
            </a:r>
            <a:endParaRPr lang="en-US" sz="1100" dirty="0"/>
          </a:p>
        </p:txBody>
      </p:sp>
      <p:sp>
        <p:nvSpPr>
          <p:cNvPr id="56" name="Shape 50">
            <a:extLst>
              <a:ext uri="{FF2B5EF4-FFF2-40B4-BE49-F238E27FC236}">
                <a16:creationId xmlns:a16="http://schemas.microsoft.com/office/drawing/2014/main" id="{42FAA656-650C-41EA-A5DD-FE27B02162BF}"/>
              </a:ext>
            </a:extLst>
          </p:cNvPr>
          <p:cNvSpPr/>
          <p:nvPr/>
        </p:nvSpPr>
        <p:spPr>
          <a:xfrm>
            <a:off x="1351229" y="4729258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7" name="Text 51">
            <a:extLst>
              <a:ext uri="{FF2B5EF4-FFF2-40B4-BE49-F238E27FC236}">
                <a16:creationId xmlns:a16="http://schemas.microsoft.com/office/drawing/2014/main" id="{D9AC9CD4-646D-49A4-AE25-FEAC8F97EE5D}"/>
              </a:ext>
            </a:extLst>
          </p:cNvPr>
          <p:cNvSpPr/>
          <p:nvPr/>
        </p:nvSpPr>
        <p:spPr>
          <a:xfrm>
            <a:off x="1396949" y="4747546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Открытый код</a:t>
            </a:r>
            <a:endParaRPr lang="en-US" sz="1100" dirty="0"/>
          </a:p>
        </p:txBody>
      </p:sp>
      <p:sp>
        <p:nvSpPr>
          <p:cNvPr id="58" name="Shape 52">
            <a:extLst>
              <a:ext uri="{FF2B5EF4-FFF2-40B4-BE49-F238E27FC236}">
                <a16:creationId xmlns:a16="http://schemas.microsoft.com/office/drawing/2014/main" id="{E61EA4CD-FDCF-4E88-9FCA-8F865A2569ED}"/>
              </a:ext>
            </a:extLst>
          </p:cNvPr>
          <p:cNvSpPr/>
          <p:nvPr/>
        </p:nvSpPr>
        <p:spPr>
          <a:xfrm>
            <a:off x="3682949" y="4729258"/>
            <a:ext cx="2103120" cy="475488"/>
          </a:xfrm>
          <a:prstGeom prst="rect">
            <a:avLst/>
          </a:prstGeom>
          <a:solidFill>
            <a:srgbClr val="EAF6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9" name="Text 53">
            <a:extLst>
              <a:ext uri="{FF2B5EF4-FFF2-40B4-BE49-F238E27FC236}">
                <a16:creationId xmlns:a16="http://schemas.microsoft.com/office/drawing/2014/main" id="{28BA9B92-17D1-4363-98E2-EB3FFD97D055}"/>
              </a:ext>
            </a:extLst>
          </p:cNvPr>
          <p:cNvSpPr/>
          <p:nvPr/>
        </p:nvSpPr>
        <p:spPr>
          <a:xfrm>
            <a:off x="3728669" y="4747546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</a:t>
            </a:r>
            <a:endParaRPr lang="en-US" sz="1100" dirty="0"/>
          </a:p>
        </p:txBody>
      </p:sp>
      <p:sp>
        <p:nvSpPr>
          <p:cNvPr id="60" name="Shape 54">
            <a:extLst>
              <a:ext uri="{FF2B5EF4-FFF2-40B4-BE49-F238E27FC236}">
                <a16:creationId xmlns:a16="http://schemas.microsoft.com/office/drawing/2014/main" id="{9CE861D3-3FFB-46E2-987B-B699B0210C0A}"/>
              </a:ext>
            </a:extLst>
          </p:cNvPr>
          <p:cNvSpPr/>
          <p:nvPr/>
        </p:nvSpPr>
        <p:spPr>
          <a:xfrm>
            <a:off x="5831789" y="4729258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A66E98F4-2281-47FA-939C-D44C3BFCE473}"/>
              </a:ext>
            </a:extLst>
          </p:cNvPr>
          <p:cNvSpPr/>
          <p:nvPr/>
        </p:nvSpPr>
        <p:spPr>
          <a:xfrm>
            <a:off x="5877509" y="4747546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</a:t>
            </a:r>
            <a:endParaRPr lang="en-US" sz="1100" dirty="0"/>
          </a:p>
        </p:txBody>
      </p:sp>
      <p:sp>
        <p:nvSpPr>
          <p:cNvPr id="62" name="Shape 56">
            <a:extLst>
              <a:ext uri="{FF2B5EF4-FFF2-40B4-BE49-F238E27FC236}">
                <a16:creationId xmlns:a16="http://schemas.microsoft.com/office/drawing/2014/main" id="{A455B6A0-AB10-4A9A-91CF-94794D245C67}"/>
              </a:ext>
            </a:extLst>
          </p:cNvPr>
          <p:cNvSpPr/>
          <p:nvPr/>
        </p:nvSpPr>
        <p:spPr>
          <a:xfrm>
            <a:off x="7980629" y="4729258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3" name="Text 57">
            <a:extLst>
              <a:ext uri="{FF2B5EF4-FFF2-40B4-BE49-F238E27FC236}">
                <a16:creationId xmlns:a16="http://schemas.microsoft.com/office/drawing/2014/main" id="{A00233BF-73C7-4906-8577-A5D6DA4E14D9}"/>
              </a:ext>
            </a:extLst>
          </p:cNvPr>
          <p:cNvSpPr/>
          <p:nvPr/>
        </p:nvSpPr>
        <p:spPr>
          <a:xfrm>
            <a:off x="8026349" y="4747546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1118819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cove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4E8CD7-8530-EB22-B79C-B8C461AE3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9586" y="317458"/>
            <a:ext cx="10515600" cy="1325563"/>
          </a:xfrm>
        </p:spPr>
        <p:txBody>
          <a:bodyPr/>
          <a:lstStyle/>
          <a:p>
            <a:r>
              <a:rPr lang="en-US" sz="4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5EBD066-D394-4AD3-36BF-2C34FF7BB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14</a:t>
            </a:fld>
            <a:endParaRPr lang="ru-RU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91C5C62-E6A3-4E93-8F1D-B05FFA8C9EAC}"/>
              </a:ext>
            </a:extLst>
          </p:cNvPr>
          <p:cNvSpPr/>
          <p:nvPr/>
        </p:nvSpPr>
        <p:spPr>
          <a:xfrm>
            <a:off x="1333575" y="2086371"/>
            <a:ext cx="4114800" cy="100584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A810D7C0-0C8C-4688-8E9B-4C8515B458DF}"/>
              </a:ext>
            </a:extLst>
          </p:cNvPr>
          <p:cNvSpPr/>
          <p:nvPr/>
        </p:nvSpPr>
        <p:spPr>
          <a:xfrm>
            <a:off x="1379295" y="2132091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4C634E9F-FF88-41ED-8A0E-5BA24851BA4E}"/>
              </a:ext>
            </a:extLst>
          </p:cNvPr>
          <p:cNvSpPr/>
          <p:nvPr/>
        </p:nvSpPr>
        <p:spPr>
          <a:xfrm>
            <a:off x="1927935" y="2132091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Radare2 + Decai — рабочая связка для AI-анализа бинарного кода</a:t>
            </a:r>
            <a:endParaRPr lang="en-US" sz="1600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FBECA86B-937D-45B4-A617-40753FEA3BD1}"/>
              </a:ext>
            </a:extLst>
          </p:cNvPr>
          <p:cNvSpPr/>
          <p:nvPr/>
        </p:nvSpPr>
        <p:spPr>
          <a:xfrm>
            <a:off x="5814135" y="2086371"/>
            <a:ext cx="4114800" cy="100584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D1BF3BFB-6657-452E-B1F1-8D40AA95A9C8}"/>
              </a:ext>
            </a:extLst>
          </p:cNvPr>
          <p:cNvSpPr/>
          <p:nvPr/>
        </p:nvSpPr>
        <p:spPr>
          <a:xfrm>
            <a:off x="5859855" y="2132091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🤖</a:t>
            </a:r>
            <a:endParaRPr lang="en-US" sz="160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1CD8B8F1-0AD1-4FA4-889E-7F799477DA95}"/>
              </a:ext>
            </a:extLst>
          </p:cNvPr>
          <p:cNvSpPr/>
          <p:nvPr/>
        </p:nvSpPr>
        <p:spPr>
          <a:xfrm>
            <a:off x="6408495" y="2132091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позволяет запускать LLM локально — код не покидает машину</a:t>
            </a:r>
            <a:endParaRPr lang="en-US" sz="1600" dirty="0"/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288BBE7F-F8AF-4818-8C48-59C1BBF864B7}"/>
              </a:ext>
            </a:extLst>
          </p:cNvPr>
          <p:cNvSpPr/>
          <p:nvPr/>
        </p:nvSpPr>
        <p:spPr>
          <a:xfrm>
            <a:off x="1333575" y="3275091"/>
            <a:ext cx="4114800" cy="100584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A013C423-0B20-4B5F-A262-A1633BDB74EC}"/>
              </a:ext>
            </a:extLst>
          </p:cNvPr>
          <p:cNvSpPr/>
          <p:nvPr/>
        </p:nvSpPr>
        <p:spPr>
          <a:xfrm>
            <a:off x="1379295" y="3320811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⚠️</a:t>
            </a:r>
            <a:endParaRPr lang="en-US" sz="1600" dirty="0"/>
          </a:p>
        </p:txBody>
      </p:sp>
      <p:sp>
        <p:nvSpPr>
          <p:cNvPr id="18" name="Text 10">
            <a:extLst>
              <a:ext uri="{FF2B5EF4-FFF2-40B4-BE49-F238E27FC236}">
                <a16:creationId xmlns:a16="http://schemas.microsoft.com/office/drawing/2014/main" id="{5AE1B9D5-F9B6-42D6-BA01-6A4657489DAA}"/>
              </a:ext>
            </a:extLst>
          </p:cNvPr>
          <p:cNvSpPr/>
          <p:nvPr/>
        </p:nvSpPr>
        <p:spPr>
          <a:xfrm>
            <a:off x="1927935" y="3320811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Windows есть проблема совместимости (rm), но она решаема</a:t>
            </a:r>
            <a:endParaRPr lang="en-US" sz="1600" dirty="0"/>
          </a:p>
        </p:txBody>
      </p:sp>
      <p:sp>
        <p:nvSpPr>
          <p:cNvPr id="19" name="Shape 11">
            <a:extLst>
              <a:ext uri="{FF2B5EF4-FFF2-40B4-BE49-F238E27FC236}">
                <a16:creationId xmlns:a16="http://schemas.microsoft.com/office/drawing/2014/main" id="{BF27B765-02C0-454D-9760-5FBB3B01364D}"/>
              </a:ext>
            </a:extLst>
          </p:cNvPr>
          <p:cNvSpPr/>
          <p:nvPr/>
        </p:nvSpPr>
        <p:spPr>
          <a:xfrm>
            <a:off x="5814135" y="3275091"/>
            <a:ext cx="4114800" cy="100584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AE729079-93B2-4CFD-8A7A-4ADAADCAAE80}"/>
              </a:ext>
            </a:extLst>
          </p:cNvPr>
          <p:cNvSpPr/>
          <p:nvPr/>
        </p:nvSpPr>
        <p:spPr>
          <a:xfrm>
            <a:off x="5859855" y="3320811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F43FDA58-D9F5-4CDE-BBC4-593EA3C61035}"/>
              </a:ext>
            </a:extLst>
          </p:cNvPr>
          <p:cNvSpPr/>
          <p:nvPr/>
        </p:nvSpPr>
        <p:spPr>
          <a:xfrm>
            <a:off x="6408495" y="3320811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корректно восстановил структуру функции main из машинного кода</a:t>
            </a:r>
            <a:endParaRPr lang="en-US" sz="1600" dirty="0"/>
          </a:p>
        </p:txBody>
      </p:sp>
      <p:sp>
        <p:nvSpPr>
          <p:cNvPr id="22" name="Shape 14">
            <a:extLst>
              <a:ext uri="{FF2B5EF4-FFF2-40B4-BE49-F238E27FC236}">
                <a16:creationId xmlns:a16="http://schemas.microsoft.com/office/drawing/2014/main" id="{4EC92FF3-6B8F-4A71-8BF6-05B72D23F22D}"/>
              </a:ext>
            </a:extLst>
          </p:cNvPr>
          <p:cNvSpPr/>
          <p:nvPr/>
        </p:nvSpPr>
        <p:spPr>
          <a:xfrm>
            <a:off x="1333575" y="4463811"/>
            <a:ext cx="4114800" cy="100584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23" name="Text 15">
            <a:extLst>
              <a:ext uri="{FF2B5EF4-FFF2-40B4-BE49-F238E27FC236}">
                <a16:creationId xmlns:a16="http://schemas.microsoft.com/office/drawing/2014/main" id="{2E7B25DC-4627-47F8-827C-691E05F121EF}"/>
              </a:ext>
            </a:extLst>
          </p:cNvPr>
          <p:cNvSpPr/>
          <p:nvPr/>
        </p:nvSpPr>
        <p:spPr>
          <a:xfrm>
            <a:off x="1379295" y="4509531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24" name="Text 16">
            <a:extLst>
              <a:ext uri="{FF2B5EF4-FFF2-40B4-BE49-F238E27FC236}">
                <a16:creationId xmlns:a16="http://schemas.microsoft.com/office/drawing/2014/main" id="{542783D1-6BA8-4CDB-888E-8C7CC1098FC0}"/>
              </a:ext>
            </a:extLst>
          </p:cNvPr>
          <p:cNvSpPr/>
          <p:nvPr/>
        </p:nvSpPr>
        <p:spPr>
          <a:xfrm>
            <a:off x="1927935" y="4509531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 уступает IDA Pro по качеству декомпиляции, но бесплатен</a:t>
            </a:r>
            <a:endParaRPr lang="en-US" sz="1600" dirty="0"/>
          </a:p>
        </p:txBody>
      </p:sp>
      <p:sp>
        <p:nvSpPr>
          <p:cNvPr id="25" name="Shape 17">
            <a:extLst>
              <a:ext uri="{FF2B5EF4-FFF2-40B4-BE49-F238E27FC236}">
                <a16:creationId xmlns:a16="http://schemas.microsoft.com/office/drawing/2014/main" id="{7342EC64-D528-4950-8603-C616EB70E8F2}"/>
              </a:ext>
            </a:extLst>
          </p:cNvPr>
          <p:cNvSpPr/>
          <p:nvPr/>
        </p:nvSpPr>
        <p:spPr>
          <a:xfrm>
            <a:off x="5814135" y="4463811"/>
            <a:ext cx="4114800" cy="100584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26" name="Text 18">
            <a:extLst>
              <a:ext uri="{FF2B5EF4-FFF2-40B4-BE49-F238E27FC236}">
                <a16:creationId xmlns:a16="http://schemas.microsoft.com/office/drawing/2014/main" id="{1A06BFFF-357A-4F1F-A7B9-7184E88397B9}"/>
              </a:ext>
            </a:extLst>
          </p:cNvPr>
          <p:cNvSpPr/>
          <p:nvPr/>
        </p:nvSpPr>
        <p:spPr>
          <a:xfrm>
            <a:off x="5859855" y="4509531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🚀</a:t>
            </a:r>
            <a:endParaRPr lang="en-US" sz="1600" dirty="0"/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9F85DE40-70D8-4780-9FB2-2E62C4A393BD}"/>
              </a:ext>
            </a:extLst>
          </p:cNvPr>
          <p:cNvSpPr/>
          <p:nvPr/>
        </p:nvSpPr>
        <p:spPr>
          <a:xfrm>
            <a:off x="6408495" y="4509531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Перспективное направление: AI-декомпиляция будет развиваться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818632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6720" y="146304"/>
            <a:ext cx="11338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использованных источников</a:t>
            </a:r>
            <a:endParaRPr lang="en-US" sz="3467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11460480" cy="755904"/>
          </a:xfrm>
          <a:prstGeom prst="roundRect">
            <a:avLst/>
          </a:prstGeom>
          <a:solidFill>
            <a:srgbClr val="EAF6FF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7680" y="1524000"/>
            <a:ext cx="426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867" dirty="0"/>
          </a:p>
        </p:txBody>
      </p:sp>
      <p:sp>
        <p:nvSpPr>
          <p:cNvPr id="6" name="Text 4"/>
          <p:cNvSpPr/>
          <p:nvPr/>
        </p:nvSpPr>
        <p:spPr>
          <a:xfrm>
            <a:off x="914400" y="1524000"/>
            <a:ext cx="79248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Radare2 Book — официальная документация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914400" y="1865376"/>
            <a:ext cx="10728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i="1" dirty="0">
                <a:solidFill>
                  <a:srgbClr val="006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book.rada.re</a:t>
            </a:r>
            <a:endParaRPr lang="en-US" sz="1467" dirty="0"/>
          </a:p>
        </p:txBody>
      </p:sp>
      <p:sp>
        <p:nvSpPr>
          <p:cNvPr id="8" name="Shape 6"/>
          <p:cNvSpPr/>
          <p:nvPr/>
        </p:nvSpPr>
        <p:spPr>
          <a:xfrm>
            <a:off x="365760" y="2316480"/>
            <a:ext cx="11460480" cy="755904"/>
          </a:xfrm>
          <a:prstGeom prst="roundRect">
            <a:avLst/>
          </a:prstGeom>
          <a:solidFill>
            <a:srgbClr val="F5F9FF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7680" y="2377440"/>
            <a:ext cx="426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867" dirty="0"/>
          </a:p>
        </p:txBody>
      </p:sp>
      <p:sp>
        <p:nvSpPr>
          <p:cNvPr id="10" name="Text 8"/>
          <p:cNvSpPr/>
          <p:nvPr/>
        </p:nvSpPr>
        <p:spPr>
          <a:xfrm>
            <a:off x="914400" y="2377440"/>
            <a:ext cx="79248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radare2 на GitHub</a:t>
            </a:r>
            <a:endParaRPr lang="en-US" sz="1733" dirty="0"/>
          </a:p>
        </p:txBody>
      </p:sp>
      <p:sp>
        <p:nvSpPr>
          <p:cNvPr id="11" name="Text 9"/>
          <p:cNvSpPr/>
          <p:nvPr/>
        </p:nvSpPr>
        <p:spPr>
          <a:xfrm>
            <a:off x="914400" y="2718816"/>
            <a:ext cx="10728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i="1" dirty="0">
                <a:solidFill>
                  <a:srgbClr val="006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github.com/radareorg/radare2</a:t>
            </a:r>
            <a:endParaRPr lang="en-US" sz="1467" dirty="0"/>
          </a:p>
        </p:txBody>
      </p:sp>
      <p:sp>
        <p:nvSpPr>
          <p:cNvPr id="12" name="Shape 10"/>
          <p:cNvSpPr/>
          <p:nvPr/>
        </p:nvSpPr>
        <p:spPr>
          <a:xfrm>
            <a:off x="365760" y="3169920"/>
            <a:ext cx="11460480" cy="755904"/>
          </a:xfrm>
          <a:prstGeom prst="roundRect">
            <a:avLst/>
          </a:prstGeom>
          <a:solidFill>
            <a:srgbClr val="EAF6FF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7680" y="3230880"/>
            <a:ext cx="426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867" dirty="0"/>
          </a:p>
        </p:txBody>
      </p:sp>
      <p:sp>
        <p:nvSpPr>
          <p:cNvPr id="14" name="Text 12"/>
          <p:cNvSpPr/>
          <p:nvPr/>
        </p:nvSpPr>
        <p:spPr>
          <a:xfrm>
            <a:off x="914400" y="3230880"/>
            <a:ext cx="79248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Плагин r2ai (Decai)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914400" y="3572256"/>
            <a:ext cx="10728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i="1" dirty="0">
                <a:solidFill>
                  <a:srgbClr val="006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github.com/radareorg/r2ai</a:t>
            </a:r>
            <a:endParaRPr lang="en-US" sz="1467" dirty="0"/>
          </a:p>
        </p:txBody>
      </p:sp>
      <p:sp>
        <p:nvSpPr>
          <p:cNvPr id="16" name="Shape 14"/>
          <p:cNvSpPr/>
          <p:nvPr/>
        </p:nvSpPr>
        <p:spPr>
          <a:xfrm>
            <a:off x="365760" y="4023360"/>
            <a:ext cx="11460480" cy="755904"/>
          </a:xfrm>
          <a:prstGeom prst="roundRect">
            <a:avLst/>
          </a:prstGeom>
          <a:solidFill>
            <a:srgbClr val="F5F9FF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7680" y="4084320"/>
            <a:ext cx="426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867" dirty="0"/>
          </a:p>
        </p:txBody>
      </p:sp>
      <p:sp>
        <p:nvSpPr>
          <p:cNvPr id="18" name="Text 16"/>
          <p:cNvSpPr/>
          <p:nvPr/>
        </p:nvSpPr>
        <p:spPr>
          <a:xfrm>
            <a:off x="914400" y="4084320"/>
            <a:ext cx="79248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— локальный LLM-сервер</a:t>
            </a:r>
            <a:endParaRPr lang="en-US" sz="1733" dirty="0"/>
          </a:p>
        </p:txBody>
      </p:sp>
      <p:sp>
        <p:nvSpPr>
          <p:cNvPr id="19" name="Text 17"/>
          <p:cNvSpPr/>
          <p:nvPr/>
        </p:nvSpPr>
        <p:spPr>
          <a:xfrm>
            <a:off x="914400" y="4425696"/>
            <a:ext cx="10728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i="1" dirty="0">
                <a:solidFill>
                  <a:srgbClr val="006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ollama.com</a:t>
            </a:r>
            <a:endParaRPr lang="en-US" sz="1467" dirty="0"/>
          </a:p>
        </p:txBody>
      </p:sp>
      <p:sp>
        <p:nvSpPr>
          <p:cNvPr id="20" name="Shape 18"/>
          <p:cNvSpPr/>
          <p:nvPr/>
        </p:nvSpPr>
        <p:spPr>
          <a:xfrm>
            <a:off x="365760" y="4876800"/>
            <a:ext cx="11460480" cy="755904"/>
          </a:xfrm>
          <a:prstGeom prst="roundRect">
            <a:avLst/>
          </a:prstGeom>
          <a:solidFill>
            <a:srgbClr val="EAF6FF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7680" y="4937760"/>
            <a:ext cx="426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1867" dirty="0"/>
          </a:p>
        </p:txBody>
      </p:sp>
      <p:sp>
        <p:nvSpPr>
          <p:cNvPr id="22" name="Text 20"/>
          <p:cNvSpPr/>
          <p:nvPr/>
        </p:nvSpPr>
        <p:spPr>
          <a:xfrm>
            <a:off x="914400" y="4937760"/>
            <a:ext cx="79248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qwen2.5-coder</a:t>
            </a:r>
            <a:endParaRPr lang="en-US" sz="1733" dirty="0"/>
          </a:p>
        </p:txBody>
      </p:sp>
      <p:sp>
        <p:nvSpPr>
          <p:cNvPr id="23" name="Text 21"/>
          <p:cNvSpPr/>
          <p:nvPr/>
        </p:nvSpPr>
        <p:spPr>
          <a:xfrm>
            <a:off x="914400" y="5279136"/>
            <a:ext cx="10728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i="1" dirty="0">
                <a:solidFill>
                  <a:srgbClr val="006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ollama.com/library/qwen2.5-coder</a:t>
            </a:r>
            <a:endParaRPr lang="en-US" sz="1467" dirty="0"/>
          </a:p>
        </p:txBody>
      </p:sp>
      <p:sp>
        <p:nvSpPr>
          <p:cNvPr id="24" name="Shape 22"/>
          <p:cNvSpPr/>
          <p:nvPr/>
        </p:nvSpPr>
        <p:spPr>
          <a:xfrm>
            <a:off x="365760" y="5730240"/>
            <a:ext cx="11460480" cy="755904"/>
          </a:xfrm>
          <a:prstGeom prst="roundRect">
            <a:avLst/>
          </a:prstGeom>
          <a:solidFill>
            <a:srgbClr val="F5F9FF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7680" y="5791200"/>
            <a:ext cx="426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1867" dirty="0"/>
          </a:p>
        </p:txBody>
      </p:sp>
      <p:sp>
        <p:nvSpPr>
          <p:cNvPr id="26" name="Text 24"/>
          <p:cNvSpPr/>
          <p:nvPr/>
        </p:nvSpPr>
        <p:spPr>
          <a:xfrm>
            <a:off x="914400" y="5791200"/>
            <a:ext cx="79248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Учебное пособие «Использование инструментов ИИ для статического анализа кода»</a:t>
            </a:r>
            <a:endParaRPr lang="en-US" sz="1733" dirty="0"/>
          </a:p>
        </p:txBody>
      </p:sp>
      <p:sp>
        <p:nvSpPr>
          <p:cNvPr id="27" name="Text 25"/>
          <p:cNvSpPr/>
          <p:nvPr/>
        </p:nvSpPr>
        <p:spPr>
          <a:xfrm>
            <a:off x="914400" y="6132576"/>
            <a:ext cx="10728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i="1" dirty="0">
                <a:solidFill>
                  <a:srgbClr val="006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предоставлено преподавателем</a:t>
            </a:r>
            <a:endParaRPr lang="en-US" sz="1467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Стандартная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Стандартная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Стандартная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Стандартная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Стандартная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1586</TotalTime>
  <Words>808</Words>
  <Application>Microsoft Office PowerPoint</Application>
  <PresentationFormat>Широкоэкранный</PresentationFormat>
  <Paragraphs>190</Paragraphs>
  <Slides>15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1" baseType="lpstr">
      <vt:lpstr>Arial</vt:lpstr>
      <vt:lpstr>Arial Black</vt:lpstr>
      <vt:lpstr>Calibri</vt:lpstr>
      <vt:lpstr>Calibri Light</vt:lpstr>
      <vt:lpstr>Courier New</vt:lpstr>
      <vt:lpstr>Тема Office</vt:lpstr>
      <vt:lpstr>Технология реверс-инжиниринга Задание 7 </vt:lpstr>
      <vt:lpstr>Оглавление</vt:lpstr>
      <vt:lpstr>Radare2 и Decai</vt:lpstr>
      <vt:lpstr>Схема работы Radare2 + Decai + Ollama</vt:lpstr>
      <vt:lpstr>Установка на Windows</vt:lpstr>
      <vt:lpstr>Анализируемая программа</vt:lpstr>
      <vt:lpstr>Презентация PowerPoint</vt:lpstr>
      <vt:lpstr>Презентация PowerPoint</vt:lpstr>
      <vt:lpstr>Граф потока управления (CFG)</vt:lpstr>
      <vt:lpstr>Граф потока управления (CFG)</vt:lpstr>
      <vt:lpstr>Результат AI-декомпиляцииa</vt:lpstr>
      <vt:lpstr>Локальный AI-сервер Ollama</vt:lpstr>
      <vt:lpstr>Сравнение с другими инструментами</vt:lpstr>
      <vt:lpstr>Выводы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Print</dc:creator>
  <cp:lastModifiedBy>Igor</cp:lastModifiedBy>
  <cp:revision>256</cp:revision>
  <dcterms:created xsi:type="dcterms:W3CDTF">2021-11-29T10:22:08Z</dcterms:created>
  <dcterms:modified xsi:type="dcterms:W3CDTF">2026-06-03T23:01:27Z</dcterms:modified>
</cp:coreProperties>
</file>