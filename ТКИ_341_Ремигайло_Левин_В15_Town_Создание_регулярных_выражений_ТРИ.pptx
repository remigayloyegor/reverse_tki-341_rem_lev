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1"/>
  </p:notesMasterIdLst>
  <p:sldIdLst>
    <p:sldId id="257" r:id="rId2"/>
    <p:sldId id="328" r:id="rId3"/>
    <p:sldId id="259" r:id="rId4"/>
    <p:sldId id="281" r:id="rId5"/>
    <p:sldId id="286" r:id="rId6"/>
    <p:sldId id="329" r:id="rId7"/>
    <p:sldId id="262" r:id="rId8"/>
    <p:sldId id="263" r:id="rId9"/>
    <p:sldId id="284" r:id="rId1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882" autoAdjust="0"/>
  </p:normalViewPr>
  <p:slideViewPr>
    <p:cSldViewPr snapToGrid="0">
      <p:cViewPr varScale="1">
        <p:scale>
          <a:sx n="84" d="100"/>
          <a:sy n="84" d="100"/>
        </p:scale>
        <p:origin x="366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viewProps" Target="viewProp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presProps" Target="presProps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notesMaster" Target="notesMasters/notesMaster1.xml" /><Relationship Id="rId5" Type="http://schemas.openxmlformats.org/officeDocument/2006/relationships/slide" Target="slides/slide4.xml" /><Relationship Id="rId15" Type="http://schemas.openxmlformats.org/officeDocument/2006/relationships/tableStyles" Target="tableStyles.xml" /><Relationship Id="rId10" Type="http://schemas.openxmlformats.org/officeDocument/2006/relationships/slide" Target="slides/slide9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2DCA59-51AA-4717-BF4A-177FB90EC27E}" type="datetimeFigureOut">
              <a:rPr lang="ru-RU" smtClean="0"/>
              <a:t>28.05.2026</a:t>
            </a:fld>
            <a:endParaRPr lang="ru-R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6AD6CF-5DCF-4517-9084-DF2C612D37E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02009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A8C6B7-494F-92C7-EBF8-405FD1FE72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Образ слайда 1">
            <a:extLst>
              <a:ext uri="{FF2B5EF4-FFF2-40B4-BE49-F238E27FC236}">
                <a16:creationId xmlns:a16="http://schemas.microsoft.com/office/drawing/2014/main" id="{6CF7F8E8-DE09-7F1B-B7DA-FE6739A98D18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  <p:txBody>
          <a:bodyPr/>
          <a:lstStyle/>
          <a:p>
            <a:endParaRPr lang="ru-RU"/>
          </a:p>
        </p:txBody>
      </p:sp>
      <p:sp>
        <p:nvSpPr>
          <p:cNvPr id="6147" name="Заметки 2">
            <a:extLst>
              <a:ext uri="{FF2B5EF4-FFF2-40B4-BE49-F238E27FC236}">
                <a16:creationId xmlns:a16="http://schemas.microsoft.com/office/drawing/2014/main" id="{49E6ED1A-5535-82AE-83B7-29C6A35F0981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ru-RU" altLang="zh-CN">
              <a:cs typeface="等线" panose="02010600030101010101" pitchFamily="2" charset="-122"/>
            </a:endParaRPr>
          </a:p>
        </p:txBody>
      </p:sp>
      <p:sp>
        <p:nvSpPr>
          <p:cNvPr id="2" name="Номер слайда 3">
            <a:extLst>
              <a:ext uri="{FF2B5EF4-FFF2-40B4-BE49-F238E27FC236}">
                <a16:creationId xmlns:a16="http://schemas.microsoft.com/office/drawing/2014/main" id="{DB2CE3F4-037F-5259-469D-A5BD5244D87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D687E02-124D-4478-85CC-DFD89EE2273D}" type="slidenum">
              <a:rPr kumimoji="0" altLang="zh-CN" sz="12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等线" panose="02010600030101010101" pitchFamily="2" charset="-122"/>
                <a:cs typeface="等线" panose="02010600030101010101" pitchFamily="2" charset="-122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zh-CN" sz="1200" b="0" i="0" u="none" strike="noStrike" kern="1200" cap="none" spc="0" normalizeH="0" baseline="0" noProof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等线" panose="02010600030101010101" pitchFamily="2" charset="-122"/>
              <a:cs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28692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D5EC4-1558-2223-CB2D-15C25DE8A0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44F909-5C00-DBFA-E100-2ACCD38C21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2DFE94-6781-D3FD-4368-70942EACD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4A1B2A-88E9-41C6-ADDD-B3B0ECF6CD4A}" type="datetime1">
              <a:rPr lang="ru-RU" smtClean="0"/>
              <a:t>28.05.2026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F7156B-5D4B-AA00-0F29-70815D0E4D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6FF4E9-F9B3-3F5C-DE52-05A71C664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4E819-F42A-4AEC-919D-DF317209FA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5092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20FE3C-853D-84FE-DB44-52B15F4A04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D9E7E8-333A-35B0-B223-0BF05092A7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48DF88-ABCA-ED7D-43FE-F5AFF2DECB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DBA3D-0B35-42DF-90EE-AC95B649311D}" type="datetime1">
              <a:rPr lang="ru-RU" smtClean="0"/>
              <a:t>28.05.2026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4E236B-4DF6-D71B-5692-2421B7628F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0FF395-DFAA-8106-F3DD-1D1246052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4E819-F42A-4AEC-919D-DF317209FA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74590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0ABDA-C8EE-0866-9636-4EE6E75C98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C97229-669F-55AD-B45B-98D0CD823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D21A31-5FEC-C31B-8A93-685998E15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9A9D5-C857-4AFF-933C-A6D6DB6026D5}" type="datetime1">
              <a:rPr lang="ru-RU" smtClean="0"/>
              <a:t>28.05.2026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EABFDF-0BDC-5B0B-8E46-1F5B5ED3F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D87E10-C155-032A-91C0-C31BF814D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4E819-F42A-4AEC-919D-DF317209FA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08385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B5070C-81E9-DF2C-AD0F-46A4BC7AEF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9635F1-43E6-1F02-148F-733443AF47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073F5A-2183-1C1E-62DA-2DBEA37884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14CC83-41DA-815C-EE35-03BE9BDD0D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772AA-D128-42F3-9526-953858CDE727}" type="datetime1">
              <a:rPr lang="ru-RU" smtClean="0"/>
              <a:t>28.05.2026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B938D4-5F16-9204-06E3-86669C55D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40A61F-57C6-338B-0E12-86904364E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4E819-F42A-4AEC-919D-DF317209FA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22508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47FC0A-7201-752E-335A-4E9E74A60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10211B-140F-3904-E44D-302827CEFA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8F4F8B-7A16-EB5A-896A-4A3CFB622C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27A9CB6-F469-529B-B780-2A66CC9709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D012D0-01EB-BCB4-EED6-A08AEBF783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CDAAF6D-133D-99A1-4939-247DF437C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DEC1A-7206-4ACB-88CC-4D580494CFD8}" type="datetime1">
              <a:rPr lang="ru-RU" smtClean="0"/>
              <a:t>28.05.2026</a:t>
            </a:fld>
            <a:endParaRPr lang="ru-R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C7E5D84-96CB-C218-14DB-6424B622AE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02D2E76-99E2-AF55-5F0A-0D0D79F86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4E819-F42A-4AEC-919D-DF317209FA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465633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A41E5-2CDD-A169-63B5-9CD56F74D6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6C2EF2-1AC0-05CC-B8DB-DE33377BA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E66A41-B699-420A-89B7-1360021CE64F}" type="datetime1">
              <a:rPr lang="ru-RU" smtClean="0"/>
              <a:t>28.05.2026</a:t>
            </a:fld>
            <a:endParaRPr lang="ru-R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19A2E7-832A-5F3E-87C5-CC3845C37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849DEE-F067-764B-2872-11FFD1BC5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4E819-F42A-4AEC-919D-DF317209FA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84414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B6C31A5-0267-D5D3-4FAF-3A697B4C2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83745-FF14-4267-8CE3-5B5166319872}" type="datetime1">
              <a:rPr lang="ru-RU" smtClean="0"/>
              <a:t>28.05.2026</a:t>
            </a:fld>
            <a:endParaRPr lang="ru-R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A047816-B590-5BA7-C25C-D49228BB8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295682-05DE-3C61-8AA8-4326E96A6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4E819-F42A-4AEC-919D-DF317209FA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909766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F5550-DF2A-A97B-0562-D5F8F6E8F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B669EB-8BAA-72B0-3D6D-9CD98B16ED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0C204E-34C8-9B81-63F1-7BA597D5A9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37EE2D-F292-9807-C53C-39A35824AB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32D68-E935-40A0-A15C-328BCC7A62F5}" type="datetime1">
              <a:rPr lang="ru-RU" smtClean="0"/>
              <a:t>28.05.2026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02D61B-6553-CC47-C7CA-D26CE0D5E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59542F-652C-F263-F098-5C41695EC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4E819-F42A-4AEC-919D-DF317209FA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29118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2F7C40-3F8E-58E0-E50E-AEF074F04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ACCADA0-EC59-B8B0-876D-6D7D5DBC90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C839ED-CEFB-0760-84E3-32161B0183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AE13CF-35EA-0FA3-AC91-4CF4C34740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E0BEA-9C6C-4843-891D-C389990A7C5F}" type="datetime1">
              <a:rPr lang="ru-RU" smtClean="0"/>
              <a:t>28.05.2026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4CEA15-9796-4ADD-1037-F3ECC7D311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8BCA49-88E6-B310-7D45-695464E3E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4E819-F42A-4AEC-919D-DF317209FA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44884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9BD6DA-8C3F-99FB-246B-4EC66DE72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28F120-0466-A4D0-72AF-A9AD605E0D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A8E01F-5092-974A-7137-55388DB6F3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4598E-39A0-4499-B681-3910AD4163EA}" type="datetime1">
              <a:rPr lang="ru-RU" smtClean="0"/>
              <a:t>28.05.2026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624936-8CED-3EA4-3137-AC2CEB96C5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94512D-5E78-4778-CE5A-06A99A960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4E819-F42A-4AEC-919D-DF317209FA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985791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F4A563D-FD32-7578-5CA8-BD6D2985CD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BCBA4C-617F-A815-8F47-9D7F74F164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CEA9BE-0505-9BD4-9735-B1E219C220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1D412-F844-4D5F-BEB0-B16AF876AB34}" type="datetime1">
              <a:rPr lang="ru-RU" smtClean="0"/>
              <a:t>28.05.2026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F75855-B8A8-6EBE-5A46-C579F7A64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683348-AE26-0439-1CD2-AF420BF0D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4E819-F42A-4AEC-919D-DF317209FA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44543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730773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theme" Target="../theme/theme1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slideLayout" Target="../slideLayouts/slideLayout12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F63E3DB-930F-484E-5137-CBCA1B91B4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59697A-C788-AB24-53BB-504BB01C8D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AC7B52-6E9B-9055-6B98-08EC7DE095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FCCD74-3F4F-4664-BDCE-83D9D19648C6}" type="datetime1">
              <a:rPr lang="ru-RU" smtClean="0"/>
              <a:t>28.05.2026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B0E36F-7A96-5893-97D3-6AA7155D33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C24DE9-A70C-0B49-F080-005569A06F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74E819-F42A-4AEC-919D-DF317209FA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6658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 /><Relationship Id="rId2" Type="http://schemas.openxmlformats.org/officeDocument/2006/relationships/image" Target="../media/image3.png" /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12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12.xml" 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FD6440-1606-BC69-E2AF-86A4ECFC065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Отчёт по лабораторной работе №6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FA4968-9A8F-F562-BEBD-29228932D9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2760662"/>
          </a:xfrm>
        </p:spPr>
        <p:txBody>
          <a:bodyPr>
            <a:normAutofit/>
          </a:bodyPr>
          <a:lstStyle/>
          <a:p>
            <a:pPr algn="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Выполнили:</a:t>
            </a:r>
          </a:p>
          <a:p>
            <a:pPr algn="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Ремигайло Е.В.</a:t>
            </a:r>
          </a:p>
          <a:p>
            <a:pPr algn="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Левин В.М.</a:t>
            </a:r>
          </a:p>
          <a:p>
            <a:pPr algn="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Проверили: </a:t>
            </a:r>
          </a:p>
          <a:p>
            <a:pPr algn="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Профессор, д.т.н. Сидоренко Валентина Генадьевна </a:t>
            </a:r>
          </a:p>
          <a:p>
            <a:pPr algn="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доцент, к.т.н. Сафронов Антон Игоревич</a:t>
            </a:r>
          </a:p>
        </p:txBody>
      </p:sp>
    </p:spTree>
    <p:extLst>
      <p:ext uri="{BB962C8B-B14F-4D97-AF65-F5344CB8AC3E}">
        <p14:creationId xmlns:p14="http://schemas.microsoft.com/office/powerpoint/2010/main" val="7046389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FE18EE-9F0D-D35A-1A74-8A9CCCF587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Овал 21">
            <a:extLst>
              <a:ext uri="{FF2B5EF4-FFF2-40B4-BE49-F238E27FC236}">
                <a16:creationId xmlns:a16="http://schemas.microsoft.com/office/drawing/2014/main" id="{723B00D0-B7C8-9967-E8BE-A5D3476713D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91638425"/>
            <a:ext cx="1452154513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pic>
        <p:nvPicPr>
          <p:cNvPr id="5138" name="Рисунок 22" descr="Изображение выглядит как Шрифт, Графика, снимок экрана, графический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F0A90A14-B378-EE29-C717-B8D7B2D43913}"/>
              </a:ext>
            </a:extLst>
          </p:cNvPr>
          <p:cNvPicPr>
            <a:picLocks noGrp="1" noRot="1" noMove="1" noResize="1" noEditPoints="1" noAdjustHandles="1" noChangeArrowheads="1" noCrop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294"/>
          <a:stretch>
            <a:fillRect/>
          </a:stretch>
        </p:blipFill>
        <p:spPr bwMode="auto">
          <a:xfrm>
            <a:off x="2147483647" y="1260782975"/>
            <a:ext cx="742950000" cy="737512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Овал 23">
            <a:extLst>
              <a:ext uri="{FF2B5EF4-FFF2-40B4-BE49-F238E27FC236}">
                <a16:creationId xmlns:a16="http://schemas.microsoft.com/office/drawing/2014/main" id="{1918DE5A-CE5D-5E82-CEFB-A56C2895E17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91638425"/>
            <a:ext cx="1448228625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pic>
        <p:nvPicPr>
          <p:cNvPr id="5140" name="Рисунок 24">
            <a:extLst>
              <a:ext uri="{FF2B5EF4-FFF2-40B4-BE49-F238E27FC236}">
                <a16:creationId xmlns:a16="http://schemas.microsoft.com/office/drawing/2014/main" id="{E133910A-2C99-F7FB-2B51-A14830F12A9E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70" t="5392" r="71927" b="9119"/>
          <a:stretch>
            <a:fillRect/>
          </a:stretch>
        </p:blipFill>
        <p:spPr bwMode="auto">
          <a:xfrm>
            <a:off x="2147483647" y="1051829875"/>
            <a:ext cx="1021600700" cy="11430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Овал 25">
            <a:extLst>
              <a:ext uri="{FF2B5EF4-FFF2-40B4-BE49-F238E27FC236}">
                <a16:creationId xmlns:a16="http://schemas.microsoft.com/office/drawing/2014/main" id="{D0B3D9B5-41BB-EDC5-B600-28A96EC409A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70645325"/>
            <a:ext cx="1452154513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pic>
        <p:nvPicPr>
          <p:cNvPr id="5142" name="Рисунок 26" descr="Изображение выглядит как символ, корона, герб, эмблема&#10;&#10;Автоматически созданное описание">
            <a:extLst>
              <a:ext uri="{FF2B5EF4-FFF2-40B4-BE49-F238E27FC236}">
                <a16:creationId xmlns:a16="http://schemas.microsoft.com/office/drawing/2014/main" id="{A70FC40E-6489-90BF-66A9-AF0072D269F9}"/>
              </a:ext>
            </a:extLst>
          </p:cNvPr>
          <p:cNvPicPr>
            <a:picLocks noGrp="1" noRot="1" noMove="1" noResize="1" noEditPoints="1" noAdjustHandles="1" noChangeArrowheads="1" noCrop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7483647" y="1051829875"/>
            <a:ext cx="1044630563" cy="11430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8931E3F8-9886-9AFE-D084-B33D88BA2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5F1E390-58D5-46F8-9BB8-613D346979AB}" type="slidenum">
              <a:rPr kumimoji="0" lang="ru-RU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rgbClr val="767676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ru-RU" altLang="en-US" sz="1200" b="0" i="0" u="none" strike="noStrike" kern="1200" cap="none" spc="0" normalizeH="0" baseline="0" noProof="1">
              <a:ln>
                <a:noFill/>
              </a:ln>
              <a:solidFill>
                <a:srgbClr val="767676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D43AE4-9548-BB5C-4ED6-9FF8351FDEFD}"/>
              </a:ext>
            </a:extLst>
          </p:cNvPr>
          <p:cNvSpPr txBox="1"/>
          <p:nvPr/>
        </p:nvSpPr>
        <p:spPr>
          <a:xfrm>
            <a:off x="828675" y="501650"/>
            <a:ext cx="65151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/>
              <a:t>Оглавление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A31CFCB-76BA-E27F-5DFA-4A4CF0DC44A6}"/>
              </a:ext>
            </a:extLst>
          </p:cNvPr>
          <p:cNvSpPr txBox="1"/>
          <p:nvPr/>
        </p:nvSpPr>
        <p:spPr>
          <a:xfrm>
            <a:off x="828675" y="1404594"/>
            <a:ext cx="7487691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Регулярные выражения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(re)</a:t>
            </a:r>
            <a:r>
              <a:rPr lang="en-US" dirty="0"/>
              <a:t>…………………………………………………………………. </a:t>
            </a:r>
            <a:r>
              <a:rPr lang="ru-RU" dirty="0"/>
              <a:t>3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Входные данные</a:t>
            </a:r>
            <a:r>
              <a:rPr lang="en-US" dirty="0"/>
              <a:t>……………………………………………………………………………</a:t>
            </a:r>
            <a:r>
              <a:rPr lang="ru-RU" dirty="0"/>
              <a:t>…….</a:t>
            </a:r>
            <a:r>
              <a:rPr lang="en-US" dirty="0"/>
              <a:t>.. 4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Исходный файл</a:t>
            </a:r>
            <a:r>
              <a:rPr lang="en-US" dirty="0"/>
              <a:t>………………………………………………………</a:t>
            </a:r>
            <a:r>
              <a:rPr lang="ru-RU" dirty="0"/>
              <a:t>………………………….</a:t>
            </a:r>
            <a:r>
              <a:rPr lang="en-US" dirty="0"/>
              <a:t>…. 5</a:t>
            </a:r>
            <a:endParaRPr lang="ru-RU" dirty="0"/>
          </a:p>
          <a:p>
            <a:pPr marL="342900" indent="-342900"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Решение</a:t>
            </a:r>
            <a:r>
              <a:rPr lang="en-US" dirty="0"/>
              <a:t>…………………………………………………………</a:t>
            </a:r>
            <a:r>
              <a:rPr lang="ru-RU" dirty="0"/>
              <a:t>……………………………………..</a:t>
            </a:r>
            <a:r>
              <a:rPr lang="en-US" dirty="0"/>
              <a:t>. 6</a:t>
            </a:r>
            <a:endParaRPr lang="ru-RU" dirty="0"/>
          </a:p>
          <a:p>
            <a:pPr marL="342900" indent="-342900">
              <a:buFont typeface="+mj-lt"/>
              <a:buAutoNum type="arabicPeriod"/>
            </a:pPr>
            <a:r>
              <a:rPr lang="en-US" sz="1800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Описание</a:t>
            </a:r>
            <a:r>
              <a:rPr lang="en-US" sz="18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логики</a:t>
            </a:r>
            <a:r>
              <a:rPr lang="en-US" sz="18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скрипта</a:t>
            </a:r>
            <a:r>
              <a:rPr lang="ru-RU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………………………………………….</a:t>
            </a:r>
            <a:r>
              <a:rPr lang="en-US" dirty="0"/>
              <a:t>………………</a:t>
            </a:r>
            <a:r>
              <a:rPr lang="ru-RU" dirty="0"/>
              <a:t>.</a:t>
            </a:r>
            <a:r>
              <a:rPr lang="en-US" dirty="0"/>
              <a:t>………… 7</a:t>
            </a:r>
            <a:endParaRPr lang="ru-RU" dirty="0"/>
          </a:p>
          <a:p>
            <a:pPr marL="342900" indent="-342900"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выполнения программы </a:t>
            </a:r>
            <a:r>
              <a:rPr lang="en-US" dirty="0"/>
              <a:t>…………………………………</a:t>
            </a:r>
            <a:r>
              <a:rPr lang="ru-RU" dirty="0"/>
              <a:t>…….</a:t>
            </a:r>
            <a:r>
              <a:rPr lang="en-US" dirty="0"/>
              <a:t>…………….. </a:t>
            </a:r>
            <a:r>
              <a:rPr lang="ru-RU" dirty="0"/>
              <a:t>8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Ошибки</a:t>
            </a:r>
            <a:r>
              <a:rPr lang="en-US" dirty="0"/>
              <a:t> ………………………………………………………………………………………………… </a:t>
            </a:r>
            <a:r>
              <a:rPr lang="ru-RU" dirty="0"/>
              <a:t>9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Выводы</a:t>
            </a:r>
            <a:r>
              <a:rPr lang="en-US" dirty="0"/>
              <a:t>………………………………………………………………………………………………… 10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495047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57DEE1-0324-CC7C-124B-752F552950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7EFA6D-8EE0-7E5A-2136-65C1CBD93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Регулярные выражения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(re)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9D697E-1524-9722-4484-E9D8EC0F5C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 –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последовательность символов, которая задаёт шаблон поиска в текстовых строках (для этого используется специальный синтаксис описания маски)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Регулярные выражения нужны, чтобы:</a:t>
            </a:r>
          </a:p>
          <a:p>
            <a:pPr>
              <a:buFontTx/>
              <a:buChar char="-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Поиск по шаблону (</a:t>
            </a:r>
            <a:r>
              <a:rPr lang="en-US" sz="28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Найти</a:t>
            </a:r>
            <a:r>
              <a:rPr lang="en-US" sz="28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все</a:t>
            </a:r>
            <a:r>
              <a:rPr lang="en-US" sz="28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строки</a:t>
            </a:r>
            <a:r>
              <a:rPr lang="en-US" sz="28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, </a:t>
            </a:r>
            <a:r>
              <a:rPr lang="en-US" sz="28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соответствующие</a:t>
            </a:r>
            <a:r>
              <a:rPr lang="en-US" sz="28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заданной</a:t>
            </a:r>
            <a:r>
              <a:rPr lang="en-US" sz="28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маске</a:t>
            </a:r>
            <a:r>
              <a:rPr lang="ru-RU" sz="28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)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Tx/>
              <a:buChar char="-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Валидация данных (</a:t>
            </a:r>
            <a:r>
              <a:rPr lang="en-US" sz="28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Проверить</a:t>
            </a:r>
            <a:r>
              <a:rPr lang="en-US" sz="28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формат</a:t>
            </a:r>
            <a:r>
              <a:rPr lang="en-US" sz="28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email, </a:t>
            </a:r>
            <a:r>
              <a:rPr lang="en-US" sz="28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телефона</a:t>
            </a:r>
            <a:r>
              <a:rPr lang="en-US" sz="28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, </a:t>
            </a:r>
            <a:r>
              <a:rPr lang="en-US" sz="28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даты</a:t>
            </a:r>
            <a:r>
              <a:rPr lang="en-US" sz="28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ru-RU" sz="28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)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Tx/>
              <a:buChar char="-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Извлечение информации (</a:t>
            </a:r>
            <a:r>
              <a:rPr lang="en-US" sz="28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Вычленить</a:t>
            </a:r>
            <a:r>
              <a:rPr lang="en-US" sz="28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нужные</a:t>
            </a:r>
            <a:r>
              <a:rPr lang="en-US" sz="28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подстроки</a:t>
            </a:r>
            <a:r>
              <a:rPr lang="en-US" sz="28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из</a:t>
            </a:r>
            <a:r>
              <a:rPr lang="en-US" sz="28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большого</a:t>
            </a:r>
            <a:r>
              <a:rPr lang="en-US" sz="28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текста</a:t>
            </a:r>
            <a:r>
              <a:rPr lang="ru-RU" sz="28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)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buFontTx/>
              <a:buChar char="-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Замена текста (</a:t>
            </a:r>
            <a:r>
              <a:rPr lang="en-US" sz="28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Заменить</a:t>
            </a:r>
            <a:r>
              <a:rPr lang="en-US" sz="28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найденные</a:t>
            </a:r>
            <a:r>
              <a:rPr lang="en-US" sz="28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вхождения</a:t>
            </a:r>
            <a:r>
              <a:rPr lang="en-US" sz="28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на</a:t>
            </a:r>
            <a:r>
              <a:rPr lang="en-US" sz="28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другой</a:t>
            </a:r>
            <a:r>
              <a:rPr lang="en-US" sz="28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текст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A7A972-4342-3581-BF30-32E4E75DB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52DFA-09F4-4FAF-913E-A5D4A31DEA7F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399970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E23DF-2B7D-AE84-F97F-4500117C97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Входные данные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0E4D9E-8AD3-3656-33F4-5B5271D39C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Файл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dev.txt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(3.9 Мб) – это большой текстовый файл, содержащий смешанные данные (адреса, даты, города и т.д.).</a:t>
            </a:r>
          </a:p>
          <a:p>
            <a:pPr marL="0" indent="0" algn="just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нашем варианте (1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требуется </a:t>
            </a:r>
            <a:r>
              <a:rPr lang="en-US" sz="28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Найти</a:t>
            </a:r>
            <a:r>
              <a:rPr lang="en-US" sz="28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названия</a:t>
            </a:r>
            <a:r>
              <a:rPr lang="en-US" sz="28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всех</a:t>
            </a:r>
            <a:r>
              <a:rPr lang="en-US" sz="28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городов</a:t>
            </a:r>
            <a:r>
              <a:rPr lang="en-US" sz="28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, </a:t>
            </a:r>
            <a:r>
              <a:rPr lang="en-US" sz="28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признаком</a:t>
            </a:r>
            <a:r>
              <a:rPr lang="en-US" sz="28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является</a:t>
            </a:r>
            <a:r>
              <a:rPr lang="en-US" sz="28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наличие</a:t>
            </a:r>
            <a:r>
              <a:rPr lang="en-US" sz="28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слова</a:t>
            </a:r>
            <a:r>
              <a:rPr lang="en-US" sz="28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«Town», а </a:t>
            </a:r>
            <a:r>
              <a:rPr lang="en-US" sz="28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ограничителями</a:t>
            </a:r>
            <a:r>
              <a:rPr lang="en-US" sz="28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— </a:t>
            </a:r>
            <a:r>
              <a:rPr lang="en-US" sz="28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запятые</a:t>
            </a:r>
            <a:r>
              <a:rPr lang="en-US" sz="28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с </a:t>
            </a:r>
            <a:r>
              <a:rPr lang="en-US" sz="28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двух</a:t>
            </a:r>
            <a:r>
              <a:rPr lang="en-US" sz="28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сторон</a:t>
            </a:r>
            <a:r>
              <a:rPr lang="en-US" sz="28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B194BC-30C5-DA0C-81FE-2D448D2EC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4E819-F42A-4AEC-919D-DF317209FA77}" type="slidenum">
              <a:rPr lang="ru-RU" smtClean="0"/>
              <a:t>4</a:t>
            </a:fld>
            <a:endParaRPr lang="ru-RU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3CF160D-0F38-203A-4817-BDE0E712F0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4001294"/>
            <a:ext cx="5973009" cy="342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74619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B241BD-6864-5EB2-3ED5-E47101DDB7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40981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Исходный файл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60F292-E25A-5F34-7596-6F02D2768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4E819-F42A-4AEC-919D-DF317209FA77}" type="slidenum">
              <a:rPr lang="ru-RU" smtClean="0"/>
              <a:t>5</a:t>
            </a:fld>
            <a:endParaRPr lang="ru-RU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42426A0-C821-16F7-8B80-DA440C1AF0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6247" y="1191040"/>
            <a:ext cx="8608604" cy="5380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2328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E05DDA-A3EC-B9AE-902C-BE5667803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3018" y="447121"/>
            <a:ext cx="2585484" cy="1009651"/>
          </a:xfrm>
        </p:spPr>
        <p:txBody>
          <a:bodyPr/>
          <a:lstStyle/>
          <a:p>
            <a:r>
              <a:rPr lang="ru-RU" dirty="0"/>
              <a:t>Решение</a:t>
            </a:r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CA888194-02DE-1FA6-2584-A1860625A0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005012"/>
            <a:ext cx="6143065" cy="4351338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0F51642-62FE-8451-251A-F54E51080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4E819-F42A-4AEC-919D-DF317209FA77}" type="slidenum">
              <a:rPr lang="ru-RU" smtClean="0"/>
              <a:t>6</a:t>
            </a:fld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290DD23B-3D70-C389-0F17-C974034274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5441" y="786809"/>
            <a:ext cx="8783230" cy="85143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41CA117-B6F4-E3CA-D110-1481F035D70A}"/>
              </a:ext>
            </a:extLst>
          </p:cNvPr>
          <p:cNvSpPr txBox="1"/>
          <p:nvPr/>
        </p:nvSpPr>
        <p:spPr>
          <a:xfrm>
            <a:off x="8240233" y="1664319"/>
            <a:ext cx="24852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Регулярное выражение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BE4928-E4A3-6919-2043-2CC9224941D9}"/>
              </a:ext>
            </a:extLst>
          </p:cNvPr>
          <p:cNvSpPr txBox="1"/>
          <p:nvPr/>
        </p:nvSpPr>
        <p:spPr>
          <a:xfrm>
            <a:off x="1783394" y="6352143"/>
            <a:ext cx="274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Код на</a:t>
            </a:r>
            <a:r>
              <a:rPr lang="en-US" dirty="0"/>
              <a:t> python</a:t>
            </a:r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439995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87680" y="146304"/>
            <a:ext cx="1121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933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Описание логики скрипта</a:t>
            </a:r>
            <a:endParaRPr lang="en-US" sz="2933" dirty="0"/>
          </a:p>
        </p:txBody>
      </p:sp>
      <p:sp>
        <p:nvSpPr>
          <p:cNvPr id="4" name="Text 2"/>
          <p:cNvSpPr/>
          <p:nvPr/>
        </p:nvSpPr>
        <p:spPr>
          <a:xfrm>
            <a:off x="11460480" y="182880"/>
            <a:ext cx="6096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733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733" dirty="0"/>
          </a:p>
        </p:txBody>
      </p:sp>
      <p:sp>
        <p:nvSpPr>
          <p:cNvPr id="5" name="Shape 3"/>
          <p:cNvSpPr/>
          <p:nvPr/>
        </p:nvSpPr>
        <p:spPr>
          <a:xfrm>
            <a:off x="487680" y="1194816"/>
            <a:ext cx="2438400" cy="633984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87680" y="1194816"/>
            <a:ext cx="2438400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867" dirty="0">
                <a:solidFill>
                  <a:srgbClr val="E8A8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,\s*</a:t>
            </a:r>
            <a:endParaRPr lang="en-US" sz="1867" dirty="0"/>
          </a:p>
        </p:txBody>
      </p:sp>
      <p:sp>
        <p:nvSpPr>
          <p:cNvPr id="7" name="Shape 5"/>
          <p:cNvSpPr/>
          <p:nvPr/>
        </p:nvSpPr>
        <p:spPr>
          <a:xfrm>
            <a:off x="2926080" y="1511808"/>
            <a:ext cx="304800" cy="0"/>
          </a:xfrm>
          <a:prstGeom prst="line">
            <a:avLst/>
          </a:prstGeom>
          <a:noFill/>
          <a:ln w="12700">
            <a:solidFill>
              <a:srgbClr val="AABB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91840" y="1267968"/>
            <a:ext cx="8412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67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Запятая + необязательные пробелы — левый ограничитель</a:t>
            </a:r>
            <a:endParaRPr lang="en-US" sz="1667" dirty="0"/>
          </a:p>
        </p:txBody>
      </p:sp>
      <p:sp>
        <p:nvSpPr>
          <p:cNvPr id="9" name="Shape 7"/>
          <p:cNvSpPr/>
          <p:nvPr/>
        </p:nvSpPr>
        <p:spPr>
          <a:xfrm>
            <a:off x="487680" y="2084832"/>
            <a:ext cx="2438400" cy="633984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7680" y="2084832"/>
            <a:ext cx="2438400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867" dirty="0">
                <a:solidFill>
                  <a:srgbClr val="9ED9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([^,]*</a:t>
            </a:r>
            <a:endParaRPr lang="en-US" sz="1867" dirty="0"/>
          </a:p>
        </p:txBody>
      </p:sp>
      <p:sp>
        <p:nvSpPr>
          <p:cNvPr id="11" name="Shape 9"/>
          <p:cNvSpPr/>
          <p:nvPr/>
        </p:nvSpPr>
        <p:spPr>
          <a:xfrm>
            <a:off x="2926080" y="2401824"/>
            <a:ext cx="304800" cy="0"/>
          </a:xfrm>
          <a:prstGeom prst="line">
            <a:avLst/>
          </a:prstGeom>
          <a:noFill/>
          <a:ln w="12700">
            <a:solidFill>
              <a:srgbClr val="AABB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91840" y="2147351"/>
            <a:ext cx="8412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67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Начало группы захвата: любые символы кроме запятой (0 или более)</a:t>
            </a:r>
            <a:endParaRPr lang="en-US" sz="1667" dirty="0"/>
          </a:p>
        </p:txBody>
      </p:sp>
      <p:sp>
        <p:nvSpPr>
          <p:cNvPr id="13" name="Shape 11"/>
          <p:cNvSpPr/>
          <p:nvPr/>
        </p:nvSpPr>
        <p:spPr>
          <a:xfrm>
            <a:off x="487680" y="2974848"/>
            <a:ext cx="2438400" cy="633984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7680" y="2974848"/>
            <a:ext cx="2438400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867" dirty="0">
                <a:solidFill>
                  <a:srgbClr val="4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Town</a:t>
            </a:r>
            <a:endParaRPr lang="en-US" sz="1867" dirty="0"/>
          </a:p>
        </p:txBody>
      </p:sp>
      <p:sp>
        <p:nvSpPr>
          <p:cNvPr id="15" name="Shape 13"/>
          <p:cNvSpPr/>
          <p:nvPr/>
        </p:nvSpPr>
        <p:spPr>
          <a:xfrm>
            <a:off x="2926080" y="3291840"/>
            <a:ext cx="304800" cy="0"/>
          </a:xfrm>
          <a:prstGeom prst="line">
            <a:avLst/>
          </a:prstGeom>
          <a:noFill/>
          <a:ln w="12700">
            <a:solidFill>
              <a:srgbClr val="AABB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291840" y="3048000"/>
            <a:ext cx="8412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67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Обязательное ключевое слово «Town» </a:t>
            </a:r>
            <a:endParaRPr lang="en-US" sz="1667" dirty="0"/>
          </a:p>
        </p:txBody>
      </p:sp>
      <p:sp>
        <p:nvSpPr>
          <p:cNvPr id="17" name="Shape 15"/>
          <p:cNvSpPr/>
          <p:nvPr/>
        </p:nvSpPr>
        <p:spPr>
          <a:xfrm>
            <a:off x="487680" y="3864864"/>
            <a:ext cx="2438400" cy="633984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7680" y="3864864"/>
            <a:ext cx="2438400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867" dirty="0">
                <a:solidFill>
                  <a:srgbClr val="9ED9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[^,]*)</a:t>
            </a:r>
            <a:endParaRPr lang="en-US" sz="1867" dirty="0"/>
          </a:p>
        </p:txBody>
      </p:sp>
      <p:sp>
        <p:nvSpPr>
          <p:cNvPr id="19" name="Shape 17"/>
          <p:cNvSpPr/>
          <p:nvPr/>
        </p:nvSpPr>
        <p:spPr>
          <a:xfrm>
            <a:off x="2926080" y="4181856"/>
            <a:ext cx="304800" cy="0"/>
          </a:xfrm>
          <a:prstGeom prst="line">
            <a:avLst/>
          </a:prstGeom>
          <a:noFill/>
          <a:ln w="12700">
            <a:solidFill>
              <a:srgbClr val="AABB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291840" y="3938016"/>
            <a:ext cx="8412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67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Продолжение группы: любые символы кроме запятой (0 или более)</a:t>
            </a:r>
            <a:endParaRPr lang="en-US" sz="1667" dirty="0"/>
          </a:p>
        </p:txBody>
      </p:sp>
      <p:sp>
        <p:nvSpPr>
          <p:cNvPr id="21" name="Shape 19"/>
          <p:cNvSpPr/>
          <p:nvPr/>
        </p:nvSpPr>
        <p:spPr>
          <a:xfrm>
            <a:off x="487680" y="4754880"/>
            <a:ext cx="2438400" cy="633984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87680" y="4754880"/>
            <a:ext cx="2438400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867" dirty="0">
                <a:solidFill>
                  <a:srgbClr val="E8A8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\s*,</a:t>
            </a:r>
            <a:endParaRPr lang="en-US" sz="1867" dirty="0"/>
          </a:p>
        </p:txBody>
      </p:sp>
      <p:sp>
        <p:nvSpPr>
          <p:cNvPr id="23" name="Shape 21"/>
          <p:cNvSpPr/>
          <p:nvPr/>
        </p:nvSpPr>
        <p:spPr>
          <a:xfrm>
            <a:off x="2926080" y="5071872"/>
            <a:ext cx="304800" cy="0"/>
          </a:xfrm>
          <a:prstGeom prst="line">
            <a:avLst/>
          </a:prstGeom>
          <a:noFill/>
          <a:ln w="12700">
            <a:solidFill>
              <a:srgbClr val="AABB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291840" y="4828032"/>
            <a:ext cx="8412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67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Необязательные пробелы + запятая — правый ограничитель</a:t>
            </a:r>
            <a:endParaRPr lang="en-US" sz="1667" dirty="0"/>
          </a:p>
        </p:txBody>
      </p:sp>
      <p:sp>
        <p:nvSpPr>
          <p:cNvPr id="26" name="Text 24"/>
          <p:cNvSpPr/>
          <p:nvPr/>
        </p:nvSpPr>
        <p:spPr>
          <a:xfrm>
            <a:off x="731520" y="5791200"/>
            <a:ext cx="1085088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4A90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dict.fromkeys(matches)</a:t>
            </a: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удаляет дубликаты, сохраняя порядок первого вхождения (Python 3.7+)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87680" y="146304"/>
            <a:ext cx="1121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933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 выполнения программы</a:t>
            </a:r>
            <a:endParaRPr lang="en-US" sz="2933" dirty="0"/>
          </a:p>
        </p:txBody>
      </p:sp>
      <p:sp>
        <p:nvSpPr>
          <p:cNvPr id="4" name="Text 2"/>
          <p:cNvSpPr/>
          <p:nvPr/>
        </p:nvSpPr>
        <p:spPr>
          <a:xfrm>
            <a:off x="11460480" y="182880"/>
            <a:ext cx="6096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733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733" dirty="0"/>
          </a:p>
        </p:txBody>
      </p:sp>
      <p:sp>
        <p:nvSpPr>
          <p:cNvPr id="7" name="Text 5"/>
          <p:cNvSpPr/>
          <p:nvPr/>
        </p:nvSpPr>
        <p:spPr>
          <a:xfrm>
            <a:off x="487680" y="1280160"/>
            <a:ext cx="353568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ru-RU" sz="4000" b="1" dirty="0">
                <a:latin typeface="Calibri" pitchFamily="34" charset="0"/>
                <a:cs typeface="Calibri" pitchFamily="34" charset="-120"/>
              </a:rPr>
              <a:t>388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487680" y="2170176"/>
            <a:ext cx="353568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dirty="0">
                <a:solidFill>
                  <a:srgbClr val="55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Всего найдено</a:t>
            </a:r>
            <a:endParaRPr lang="en-US" sz="1467" dirty="0"/>
          </a:p>
          <a:p>
            <a:pPr algn="ctr"/>
            <a:r>
              <a:rPr lang="en-US" sz="1467" dirty="0">
                <a:solidFill>
                  <a:srgbClr val="55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совпадений</a:t>
            </a:r>
            <a:endParaRPr lang="en-US" sz="1467" dirty="0"/>
          </a:p>
        </p:txBody>
      </p:sp>
      <p:sp>
        <p:nvSpPr>
          <p:cNvPr id="11" name="Text 9"/>
          <p:cNvSpPr/>
          <p:nvPr/>
        </p:nvSpPr>
        <p:spPr>
          <a:xfrm>
            <a:off x="4389120" y="1280160"/>
            <a:ext cx="353568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ru-RU" sz="4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92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4389120" y="2170176"/>
            <a:ext cx="353568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dirty="0">
                <a:solidFill>
                  <a:srgbClr val="55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Уникальных</a:t>
            </a:r>
            <a:endParaRPr lang="en-US" sz="1467" dirty="0"/>
          </a:p>
          <a:p>
            <a:pPr algn="ctr"/>
            <a:r>
              <a:rPr lang="en-US" sz="1467" dirty="0">
                <a:solidFill>
                  <a:srgbClr val="55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названий городов</a:t>
            </a:r>
            <a:endParaRPr lang="en-US" sz="1467" dirty="0"/>
          </a:p>
        </p:txBody>
      </p:sp>
      <p:sp>
        <p:nvSpPr>
          <p:cNvPr id="15" name="Text 13"/>
          <p:cNvSpPr/>
          <p:nvPr/>
        </p:nvSpPr>
        <p:spPr>
          <a:xfrm>
            <a:off x="8290560" y="1280160"/>
            <a:ext cx="353568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4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dev.txt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8290560" y="2170176"/>
            <a:ext cx="353568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dirty="0">
                <a:solidFill>
                  <a:srgbClr val="55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Входной</a:t>
            </a:r>
            <a:endParaRPr lang="en-US" sz="1467" dirty="0"/>
          </a:p>
          <a:p>
            <a:pPr algn="ctr"/>
            <a:r>
              <a:rPr lang="en-US" sz="1467" dirty="0">
                <a:solidFill>
                  <a:srgbClr val="55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файл</a:t>
            </a:r>
            <a:endParaRPr lang="en-US" sz="1467" dirty="0"/>
          </a:p>
        </p:txBody>
      </p:sp>
      <p:sp>
        <p:nvSpPr>
          <p:cNvPr id="17" name="Shape 15"/>
          <p:cNvSpPr/>
          <p:nvPr/>
        </p:nvSpPr>
        <p:spPr>
          <a:xfrm>
            <a:off x="487680" y="3048000"/>
            <a:ext cx="11216640" cy="487680"/>
          </a:xfrm>
          <a:prstGeom prst="rect">
            <a:avLst/>
          </a:prstGeom>
          <a:solidFill>
            <a:srgbClr val="2A2A3E"/>
          </a:solidFill>
          <a:ln w="12700">
            <a:solidFill>
              <a:srgbClr val="2A2A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70560" y="3084576"/>
            <a:ext cx="10972800" cy="414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Консольный вывод программы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87680" y="3535680"/>
            <a:ext cx="11216640" cy="14630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31520" y="3596640"/>
            <a:ext cx="10789920" cy="1341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python towns_finder.py
</a:t>
            </a:r>
            <a:r>
              <a:rPr lang="en-US" sz="16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Найдено: </a:t>
            </a:r>
            <a:r>
              <a:rPr lang="ru-RU" sz="16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388</a:t>
            </a:r>
            <a:r>
              <a:rPr lang="en-US" sz="16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уникальных: </a:t>
            </a:r>
            <a:r>
              <a:rPr lang="ru-RU" sz="16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92</a:t>
            </a:r>
            <a:r>
              <a:rPr lang="en-US" sz="16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1600" dirty="0">
                <a:solidFill>
                  <a:srgbClr val="4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Результат сохранён в файл: towns_output.txt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87680" y="5120640"/>
            <a:ext cx="11216640" cy="487680"/>
          </a:xfrm>
          <a:prstGeom prst="rect">
            <a:avLst/>
          </a:prstGeom>
          <a:solidFill>
            <a:srgbClr val="2A2A3E"/>
          </a:solidFill>
          <a:ln w="12700">
            <a:solidFill>
              <a:srgbClr val="2A2A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70560" y="5157216"/>
            <a:ext cx="10972800" cy="414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Фрагмент файла towns_output.txt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87680" y="5608320"/>
            <a:ext cx="11216640" cy="97536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31520" y="5669280"/>
            <a:ext cx="1078992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Greentown     2. Old Townside     3. Newtown     4. Riverside Town     5. Townville ...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3A54D9-8908-F3AE-7F83-12FD6B7720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Выводы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3EEAFE-C983-93B5-4491-0974C75B51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1) </a:t>
            </a: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В </a:t>
            </a:r>
            <a:r>
              <a:rPr lang="en-US" sz="20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ходе</a:t>
            </a: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выполнения</a:t>
            </a: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работы</a:t>
            </a: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разработано</a:t>
            </a: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регулярное</a:t>
            </a: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выражение</a:t>
            </a: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для</a:t>
            </a: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поиска</a:t>
            </a: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названий</a:t>
            </a: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городов</a:t>
            </a: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содержащих</a:t>
            </a: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слово</a:t>
            </a: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«Town», с </a:t>
            </a:r>
            <a:r>
              <a:rPr lang="en-US" sz="20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ограничителями-запятыми</a:t>
            </a: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в </a:t>
            </a:r>
            <a:r>
              <a:rPr lang="en-US" sz="20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файле</a:t>
            </a: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dev.txt.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2) </a:t>
            </a:r>
            <a:r>
              <a:rPr lang="en-US" sz="20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Итоговый</a:t>
            </a: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скрипт</a:t>
            </a: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на</a:t>
            </a: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языке</a:t>
            </a: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Python </a:t>
            </a:r>
            <a:r>
              <a:rPr lang="en-US" sz="20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успешно</a:t>
            </a: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обрабатывает</a:t>
            </a: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входной</a:t>
            </a: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файл</a:t>
            </a: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объёмом</a:t>
            </a: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~4 МБ, </a:t>
            </a:r>
            <a:r>
              <a:rPr lang="en-US" sz="20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автоматически</a:t>
            </a: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устраняет</a:t>
            </a: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дубликаты</a:t>
            </a: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и </a:t>
            </a:r>
            <a:r>
              <a:rPr lang="en-US" sz="20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формирует</a:t>
            </a: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структурированный</a:t>
            </a: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файл</a:t>
            </a: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towns_output.txt.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3) </a:t>
            </a:r>
            <a:r>
              <a:rPr lang="en-US" sz="20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Установлено</a:t>
            </a: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что</a:t>
            </a: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разработанный</a:t>
            </a: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алгоритм</a:t>
            </a: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допускает</a:t>
            </a: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ошибки</a:t>
            </a: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первого</a:t>
            </a: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рода</a:t>
            </a: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(</a:t>
            </a:r>
            <a:r>
              <a:rPr lang="en-US" sz="20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ложные</a:t>
            </a: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срабатывания</a:t>
            </a: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на</a:t>
            </a: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слова</a:t>
            </a: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с «Town» </a:t>
            </a:r>
            <a:r>
              <a:rPr lang="en-US" sz="20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как</a:t>
            </a: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частью</a:t>
            </a: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корня</a:t>
            </a: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) и </a:t>
            </a:r>
            <a:r>
              <a:rPr lang="en-US" sz="20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ошибки</a:t>
            </a: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второго</a:t>
            </a: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рода</a:t>
            </a: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(</a:t>
            </a:r>
            <a:r>
              <a:rPr lang="en-US" sz="20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пропуски</a:t>
            </a: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при</a:t>
            </a: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нестандартных</a:t>
            </a: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ограничителях</a:t>
            </a: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или</a:t>
            </a: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написании</a:t>
            </a: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строчными</a:t>
            </a: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буквами</a:t>
            </a: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).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4) </a:t>
            </a:r>
            <a:r>
              <a:rPr lang="en-US" sz="20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Реализованный</a:t>
            </a: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подход</a:t>
            </a: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подтвердил</a:t>
            </a: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эффективность</a:t>
            </a: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регулярных</a:t>
            </a: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выражений</a:t>
            </a: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для</a:t>
            </a: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автоматизированного</a:t>
            </a: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извлечения</a:t>
            </a: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топонимов</a:t>
            </a: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из</a:t>
            </a: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неструктурированных</a:t>
            </a: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текстовых</a:t>
            </a: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данных</a:t>
            </a: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79E23C-42B0-95DB-3A60-D74D265A2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4E819-F42A-4AEC-919D-DF317209FA77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254381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411</TotalTime>
  <Words>496</Words>
  <Application>Microsoft Office PowerPoint</Application>
  <PresentationFormat>Широкоэкранный</PresentationFormat>
  <Paragraphs>72</Paragraphs>
  <Slides>9</Slides>
  <Notes>3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0" baseType="lpstr">
      <vt:lpstr>Office Theme</vt:lpstr>
      <vt:lpstr>Отчёт по лабораторной работе №6</vt:lpstr>
      <vt:lpstr>Презентация PowerPoint</vt:lpstr>
      <vt:lpstr>Регулярные выражения (re)</vt:lpstr>
      <vt:lpstr>Входные данные</vt:lpstr>
      <vt:lpstr>Исходный файл</vt:lpstr>
      <vt:lpstr>Решение</vt:lpstr>
      <vt:lpstr>Презентация PowerPoint</vt:lpstr>
      <vt:lpstr>Презентация PowerPoint</vt:lpstr>
      <vt:lpstr>Выводы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Отчёт по лабораторной работе №6</dc:title>
  <dc:creator>Наседкин Тимофей</dc:creator>
  <cp:lastModifiedBy>Крецу Дмитрий</cp:lastModifiedBy>
  <cp:revision>25</cp:revision>
  <dcterms:created xsi:type="dcterms:W3CDTF">2026-04-14T20:09:30Z</dcterms:created>
  <dcterms:modified xsi:type="dcterms:W3CDTF">2026-05-28T11:27:52Z</dcterms:modified>
</cp:coreProperties>
</file>